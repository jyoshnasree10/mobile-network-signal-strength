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76" y="-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5D93A229-87C6-4F4A-896D-B00F021997F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F4604B9-3EF0-47AA-AB6A-394D6A8212D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980728"/>
            <a:ext cx="7695257" cy="1823365"/>
          </a:xfrm>
        </p:spPr>
        <p:txBody>
          <a:bodyPr/>
          <a:lstStyle/>
          <a:p>
            <a:r>
              <a:rPr lang="en-US" sz="4800" dirty="0"/>
              <a:t>Mobile Network Signal Strength Prediction</a:t>
            </a:r>
          </a:p>
        </p:txBody>
      </p:sp>
      <p:sp>
        <p:nvSpPr>
          <p:cNvPr id="4" name="AutoShape 2" descr="Phone Signal Royalty-Free Image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Phone Signal Royalty-Free Images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Phone Signal Royalty-Free Images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3068960"/>
            <a:ext cx="5541471" cy="2273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05944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19256" cy="1195536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Introduction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Mobile networks are the backbone of modern communication.</a:t>
            </a:r>
            <a:br>
              <a:rPr lang="en-US" sz="2800" dirty="0">
                <a:solidFill>
                  <a:schemeClr val="tx1"/>
                </a:solidFill>
                <a:latin typeface="+mn-lt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</a:rPr>
              <a:t>However, signal strength varies due to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location, obstacles, tower distance, and frequency bands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r>
              <a:rPr lang="en-US" sz="2800" dirty="0">
                <a:solidFill>
                  <a:schemeClr val="tx1"/>
                </a:solidFill>
                <a:latin typeface="+mn-lt"/>
              </a:rPr>
              <a:t>A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Mobile Network Signal Strength Predictor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helps estimate coverage quality using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Machine Learning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.</a:t>
            </a:r>
            <a:br>
              <a:rPr lang="en-US" sz="2800" dirty="0">
                <a:solidFill>
                  <a:schemeClr val="tx1"/>
                </a:solidFill>
                <a:latin typeface="+mn-lt"/>
              </a:rPr>
            </a:br>
            <a:r>
              <a:rPr lang="en-US" sz="2800" dirty="0">
                <a:solidFill>
                  <a:schemeClr val="tx1"/>
                </a:solidFill>
                <a:latin typeface="+mn-lt"/>
              </a:rPr>
              <a:t>It assists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users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(to choose better locations/networks) and </a:t>
            </a:r>
            <a:r>
              <a:rPr lang="en-US" sz="2800" b="1" dirty="0">
                <a:solidFill>
                  <a:schemeClr val="tx1"/>
                </a:solidFill>
                <a:latin typeface="+mn-lt"/>
              </a:rPr>
              <a:t>telecom companies</a:t>
            </a:r>
            <a:r>
              <a:rPr lang="en-US" sz="2800" dirty="0">
                <a:solidFill>
                  <a:schemeClr val="tx1"/>
                </a:solidFill>
                <a:latin typeface="+mn-lt"/>
              </a:rPr>
              <a:t> (to optimize tower placement).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00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404664"/>
            <a:ext cx="8291264" cy="1195536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</a:rPr>
              <a:t/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4000" dirty="0" smtClean="0"/>
              <a:t>Problem Statements &amp; Objectives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⚠️ </a:t>
            </a:r>
            <a:r>
              <a:rPr lang="en-US" b="1" dirty="0">
                <a:solidFill>
                  <a:schemeClr val="tx1"/>
                </a:solidFill>
              </a:rPr>
              <a:t>Problem</a:t>
            </a:r>
          </a:p>
          <a:p>
            <a:r>
              <a:rPr lang="en-US" dirty="0">
                <a:solidFill>
                  <a:schemeClr val="tx1"/>
                </a:solidFill>
              </a:rPr>
              <a:t>📶 Uneven and weak </a:t>
            </a:r>
            <a:r>
              <a:rPr lang="en-US" b="1" dirty="0">
                <a:solidFill>
                  <a:schemeClr val="tx1"/>
                </a:solidFill>
              </a:rPr>
              <a:t>mobile network coverage</a:t>
            </a:r>
            <a:r>
              <a:rPr lang="en-US" dirty="0">
                <a:solidFill>
                  <a:schemeClr val="tx1"/>
                </a:solidFill>
              </a:rPr>
              <a:t> in many regions.</a:t>
            </a:r>
          </a:p>
          <a:p>
            <a:r>
              <a:rPr lang="en-US" dirty="0">
                <a:solidFill>
                  <a:schemeClr val="tx1"/>
                </a:solidFill>
              </a:rPr>
              <a:t>📱 Frequent </a:t>
            </a:r>
            <a:r>
              <a:rPr lang="en-US" b="1" dirty="0">
                <a:solidFill>
                  <a:schemeClr val="tx1"/>
                </a:solidFill>
              </a:rPr>
              <a:t>call drops</a:t>
            </a:r>
            <a:r>
              <a:rPr lang="en-US" dirty="0">
                <a:solidFill>
                  <a:schemeClr val="tx1"/>
                </a:solidFill>
              </a:rPr>
              <a:t>, slow internet, and poor connectivity.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chemeClr val="tx1"/>
                </a:solidFill>
              </a:rPr>
              <a:t>🎯 </a:t>
            </a:r>
            <a:r>
              <a:rPr lang="en-US" b="1" dirty="0">
                <a:solidFill>
                  <a:schemeClr val="tx1"/>
                </a:solidFill>
              </a:rPr>
              <a:t>Objectives</a:t>
            </a:r>
          </a:p>
          <a:p>
            <a:r>
              <a:rPr lang="en-US" dirty="0">
                <a:solidFill>
                  <a:schemeClr val="tx1"/>
                </a:solidFill>
              </a:rPr>
              <a:t>🤖 Predict </a:t>
            </a:r>
            <a:r>
              <a:rPr lang="en-US" b="1" dirty="0">
                <a:solidFill>
                  <a:schemeClr val="tx1"/>
                </a:solidFill>
              </a:rPr>
              <a:t>signal strength</a:t>
            </a:r>
            <a:r>
              <a:rPr lang="en-US" dirty="0">
                <a:solidFill>
                  <a:schemeClr val="tx1"/>
                </a:solidFill>
              </a:rPr>
              <a:t> using ML models.</a:t>
            </a:r>
          </a:p>
          <a:p>
            <a:r>
              <a:rPr lang="en-US" dirty="0">
                <a:solidFill>
                  <a:schemeClr val="tx1"/>
                </a:solidFill>
              </a:rPr>
              <a:t>🗂️ </a:t>
            </a:r>
            <a:r>
              <a:rPr lang="en-US" b="1" dirty="0">
                <a:solidFill>
                  <a:schemeClr val="tx1"/>
                </a:solidFill>
              </a:rPr>
              <a:t>Preprocess &amp; analyze</a:t>
            </a:r>
            <a:r>
              <a:rPr lang="en-US" dirty="0">
                <a:solidFill>
                  <a:schemeClr val="tx1"/>
                </a:solidFill>
              </a:rPr>
              <a:t> real signal datasets.</a:t>
            </a:r>
          </a:p>
          <a:p>
            <a:r>
              <a:rPr lang="en-US" dirty="0">
                <a:solidFill>
                  <a:schemeClr val="tx1"/>
                </a:solidFill>
              </a:rPr>
              <a:t>📊 Improve prediction accuracy with </a:t>
            </a:r>
            <a:r>
              <a:rPr lang="en-US" b="1" dirty="0">
                <a:solidFill>
                  <a:schemeClr val="tx1"/>
                </a:solidFill>
              </a:rPr>
              <a:t>feature engineering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🌐 Provide insights for </a:t>
            </a:r>
            <a:r>
              <a:rPr lang="en-US" b="1" dirty="0">
                <a:solidFill>
                  <a:schemeClr val="tx1"/>
                </a:solidFill>
              </a:rPr>
              <a:t>better connectivity planning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095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576" y="0"/>
            <a:ext cx="7571184" cy="1268760"/>
          </a:xfrm>
        </p:spPr>
        <p:txBody>
          <a:bodyPr/>
          <a:lstStyle/>
          <a:p>
            <a:r>
              <a:rPr lang="en-US" sz="4400" dirty="0" smtClean="0"/>
              <a:t>Literature Survey Table</a:t>
            </a:r>
            <a:endParaRPr lang="en-US" sz="44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888484"/>
              </p:ext>
            </p:extLst>
          </p:nvPr>
        </p:nvGraphicFramePr>
        <p:xfrm>
          <a:off x="426244" y="3413760"/>
          <a:ext cx="8229600" cy="3657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964799"/>
              </p:ext>
            </p:extLst>
          </p:nvPr>
        </p:nvGraphicFramePr>
        <p:xfrm>
          <a:off x="457200" y="3131661"/>
          <a:ext cx="8229600" cy="3657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244654"/>
              </p:ext>
            </p:extLst>
          </p:nvPr>
        </p:nvGraphicFramePr>
        <p:xfrm>
          <a:off x="457200" y="2994501"/>
          <a:ext cx="8229600" cy="3657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832829"/>
              </p:ext>
            </p:extLst>
          </p:nvPr>
        </p:nvGraphicFramePr>
        <p:xfrm>
          <a:off x="467537" y="1412774"/>
          <a:ext cx="8352936" cy="4968553"/>
        </p:xfrm>
        <a:graphic>
          <a:graphicData uri="http://schemas.openxmlformats.org/drawingml/2006/table">
            <a:tbl>
              <a:tblPr/>
              <a:tblGrid>
                <a:gridCol w="1392156"/>
                <a:gridCol w="1392156"/>
                <a:gridCol w="1392156"/>
                <a:gridCol w="1392156"/>
                <a:gridCol w="1392156"/>
                <a:gridCol w="1392156"/>
              </a:tblGrid>
              <a:tr h="45042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2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654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03251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2654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marL="58779" marR="58779" marT="29389" marB="2938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891"/>
              </p:ext>
            </p:extLst>
          </p:nvPr>
        </p:nvGraphicFramePr>
        <p:xfrm>
          <a:off x="323526" y="1268760"/>
          <a:ext cx="8712972" cy="525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162"/>
                <a:gridCol w="1452162"/>
                <a:gridCol w="1452162"/>
                <a:gridCol w="1452162"/>
                <a:gridCol w="1452162"/>
                <a:gridCol w="1452162"/>
              </a:tblGrid>
              <a:tr h="856763">
                <a:tc>
                  <a:txBody>
                    <a:bodyPr/>
                    <a:lstStyle/>
                    <a:p>
                      <a:r>
                        <a:rPr lang="en-US" sz="1800" b="1" dirty="0"/>
                        <a:t>Year</a:t>
                      </a:r>
                      <a:endParaRPr lang="en-US" sz="1800" dirty="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Title</a:t>
                      </a:r>
                      <a:endParaRPr lang="en-US" sz="180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Techniques</a:t>
                      </a:r>
                      <a:endParaRPr lang="en-US" sz="1800" dirty="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Accuracy</a:t>
                      </a:r>
                      <a:endParaRPr lang="en-US" sz="180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Dataset</a:t>
                      </a:r>
                      <a:endParaRPr lang="en-US" sz="180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Limitations</a:t>
                      </a:r>
                      <a:endParaRPr lang="en-US" sz="1800" dirty="0"/>
                    </a:p>
                  </a:txBody>
                  <a:tcPr marL="58779" marR="58779" marT="29389" marB="29389" anchor="ctr"/>
                </a:tc>
              </a:tr>
              <a:tr h="932144">
                <a:tc>
                  <a:txBody>
                    <a:bodyPr/>
                    <a:lstStyle/>
                    <a:p>
                      <a:r>
                        <a:rPr lang="en-US" sz="1400" b="1" dirty="0"/>
                        <a:t>2018</a:t>
                      </a:r>
                      <a:endParaRPr lang="en-US" sz="1400" dirty="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Cellular Signal Prediction using ML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Linear Regression, Decision Trees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~82%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LTE/4G Mobile Network Signal Strength</a:t>
                      </a:r>
                    </a:p>
                    <a:p>
                      <a:endParaRPr lang="en-US" sz="1400" dirty="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Limited dataset; low generalization</a:t>
                      </a:r>
                    </a:p>
                  </a:txBody>
                  <a:tcPr marL="58779" marR="58779" marT="29389" marB="29389" anchor="ctr"/>
                </a:tc>
              </a:tr>
              <a:tr h="948381">
                <a:tc>
                  <a:txBody>
                    <a:bodyPr/>
                    <a:lstStyle/>
                    <a:p>
                      <a:r>
                        <a:rPr lang="en-US" sz="1400" b="1"/>
                        <a:t>2020</a:t>
                      </a:r>
                      <a:endParaRPr lang="en-US" sz="140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Mobile Signal Strength Forecasting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Random Forest, Gradient Boosting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~90%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Wireless Signal Strength Dataset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Needs large training data; model complexity</a:t>
                      </a:r>
                    </a:p>
                  </a:txBody>
                  <a:tcPr marL="58779" marR="58779" marT="29389" marB="29389" anchor="ctr"/>
                </a:tc>
              </a:tr>
              <a:tr h="1150166">
                <a:tc>
                  <a:txBody>
                    <a:bodyPr/>
                    <a:lstStyle/>
                    <a:p>
                      <a:r>
                        <a:rPr lang="en-US" sz="1400" b="1"/>
                        <a:t>2021</a:t>
                      </a:r>
                      <a:endParaRPr lang="en-US" sz="140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Deep Learning for Signal Prediction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Neural Networks (ANN, CNN)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~94%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 </a:t>
                      </a:r>
                      <a:r>
                        <a:rPr lang="en-US" sz="1400" dirty="0"/>
                        <a:t>Mobile Network Signal Strength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High computational cost; requires GPU</a:t>
                      </a:r>
                    </a:p>
                  </a:txBody>
                  <a:tcPr marL="58779" marR="58779" marT="29389" marB="29389" anchor="ctr"/>
                </a:tc>
              </a:tr>
              <a:tr h="1368186">
                <a:tc>
                  <a:txBody>
                    <a:bodyPr/>
                    <a:lstStyle/>
                    <a:p>
                      <a:r>
                        <a:rPr lang="en-US" sz="1400" b="1"/>
                        <a:t>2023</a:t>
                      </a:r>
                      <a:endParaRPr lang="en-US" sz="1400"/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Hybrid ML Models for Signal Prediction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Random Forest + Neural Networks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~96%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Cell Phone Signal Strength Data</a:t>
                      </a:r>
                    </a:p>
                  </a:txBody>
                  <a:tcPr marL="58779" marR="58779" marT="29389" marB="29389"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imbalance between strong and weak signals</a:t>
                      </a:r>
                    </a:p>
                  </a:txBody>
                  <a:tcPr marL="58779" marR="58779" marT="29389" marB="2938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0048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219256" cy="1051520"/>
          </a:xfrm>
        </p:spPr>
        <p:txBody>
          <a:bodyPr/>
          <a:lstStyle/>
          <a:p>
            <a:pPr algn="l"/>
            <a:r>
              <a:rPr lang="en-US" sz="4800" dirty="0" smtClean="0">
                <a:solidFill>
                  <a:schemeClr val="tx1"/>
                </a:solidFill>
              </a:rPr>
              <a:t>Tools Used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412776"/>
            <a:ext cx="8219256" cy="4713387"/>
          </a:xfrm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Dataset</a:t>
            </a:r>
            <a:r>
              <a:rPr lang="en-US" dirty="0">
                <a:solidFill>
                  <a:schemeClr val="tx1"/>
                </a:solidFill>
              </a:rPr>
              <a:t>: Mobile signal strength datasets (</a:t>
            </a:r>
            <a:r>
              <a:rPr lang="en-US" dirty="0" err="1">
                <a:solidFill>
                  <a:schemeClr val="tx1"/>
                </a:solidFill>
              </a:rPr>
              <a:t>Kaggle</a:t>
            </a:r>
            <a:r>
              <a:rPr lang="en-US" dirty="0">
                <a:solidFill>
                  <a:schemeClr val="tx1"/>
                </a:solidFill>
              </a:rPr>
              <a:t> / real-world surveys).</a:t>
            </a:r>
          </a:p>
          <a:p>
            <a:r>
              <a:rPr lang="en-US" b="1" dirty="0">
                <a:solidFill>
                  <a:schemeClr val="tx1"/>
                </a:solidFill>
              </a:rPr>
              <a:t>Programming</a:t>
            </a:r>
            <a:r>
              <a:rPr lang="en-US" dirty="0">
                <a:solidFill>
                  <a:schemeClr val="tx1"/>
                </a:solidFill>
              </a:rPr>
              <a:t>: Python</a:t>
            </a:r>
          </a:p>
          <a:p>
            <a:r>
              <a:rPr lang="en-US" b="1" dirty="0">
                <a:solidFill>
                  <a:schemeClr val="tx1"/>
                </a:solidFill>
              </a:rPr>
              <a:t>Environment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Jupyter</a:t>
            </a:r>
            <a:r>
              <a:rPr lang="en-US" dirty="0">
                <a:solidFill>
                  <a:schemeClr val="tx1"/>
                </a:solidFill>
              </a:rPr>
              <a:t> Notebook / VS Code</a:t>
            </a:r>
          </a:p>
          <a:p>
            <a:r>
              <a:rPr lang="en-US" b="1" dirty="0">
                <a:solidFill>
                  <a:schemeClr val="tx1"/>
                </a:solidFill>
              </a:rPr>
              <a:t>Libraries</a:t>
            </a:r>
            <a:r>
              <a:rPr lang="en-US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Pandas – Data Handling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Scikit</a:t>
            </a:r>
            <a:r>
              <a:rPr lang="en-US" dirty="0">
                <a:solidFill>
                  <a:schemeClr val="tx1"/>
                </a:solidFill>
              </a:rPr>
              <a:t>-learn – ML Models</a:t>
            </a:r>
          </a:p>
          <a:p>
            <a:pPr lvl="1"/>
            <a:r>
              <a:rPr lang="en-US" dirty="0" err="1">
                <a:solidFill>
                  <a:schemeClr val="tx1"/>
                </a:solidFill>
              </a:rPr>
              <a:t>Matplotlib</a:t>
            </a:r>
            <a:r>
              <a:rPr lang="en-US" dirty="0">
                <a:solidFill>
                  <a:schemeClr val="tx1"/>
                </a:solidFill>
              </a:rPr>
              <a:t> / </a:t>
            </a:r>
            <a:r>
              <a:rPr lang="en-US" dirty="0" err="1">
                <a:solidFill>
                  <a:schemeClr val="tx1"/>
                </a:solidFill>
              </a:rPr>
              <a:t>Seaborn</a:t>
            </a:r>
            <a:r>
              <a:rPr lang="en-US" dirty="0">
                <a:solidFill>
                  <a:schemeClr val="tx1"/>
                </a:solidFill>
              </a:rPr>
              <a:t> – Visualization</a:t>
            </a:r>
          </a:p>
          <a:p>
            <a:r>
              <a:rPr lang="en-US" b="1" dirty="0">
                <a:solidFill>
                  <a:schemeClr val="tx1"/>
                </a:solidFill>
              </a:rPr>
              <a:t>Optional Frontend</a:t>
            </a:r>
            <a:r>
              <a:rPr lang="en-US" dirty="0">
                <a:solidFill>
                  <a:schemeClr val="tx1"/>
                </a:solidFill>
              </a:rPr>
              <a:t>: HTML / CSS Dashboard for visualization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74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" y="188640"/>
            <a:ext cx="3737993" cy="763488"/>
          </a:xfrm>
        </p:spPr>
        <p:txBody>
          <a:bodyPr/>
          <a:lstStyle/>
          <a:p>
            <a:r>
              <a:rPr lang="en-US" dirty="0" smtClean="0"/>
              <a:t>Flow Chart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908720"/>
            <a:ext cx="3648405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80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19256" cy="485313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Dataset Size: ~X rows, 5 main columns</a:t>
            </a:r>
          </a:p>
          <a:p>
            <a:r>
              <a:rPr lang="en-US" dirty="0">
                <a:solidFill>
                  <a:schemeClr val="tx1"/>
                </a:solidFill>
              </a:rPr>
              <a:t>Features: Latitude, Longitude, Signal Strength (</a:t>
            </a:r>
            <a:r>
              <a:rPr lang="en-US" dirty="0" err="1">
                <a:solidFill>
                  <a:schemeClr val="tx1"/>
                </a:solidFill>
              </a:rPr>
              <a:t>dBm</a:t>
            </a:r>
            <a:r>
              <a:rPr lang="en-US" dirty="0">
                <a:solidFill>
                  <a:schemeClr val="tx1"/>
                </a:solidFill>
              </a:rPr>
              <a:t>), Throughput (Mbps), Latency (</a:t>
            </a:r>
            <a:r>
              <a:rPr lang="en-US" dirty="0" err="1">
                <a:solidFill>
                  <a:schemeClr val="tx1"/>
                </a:solidFill>
              </a:rPr>
              <a:t>ms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Target Variable: Signal Strength (</a:t>
            </a:r>
            <a:r>
              <a:rPr lang="en-US" dirty="0" err="1">
                <a:solidFill>
                  <a:schemeClr val="tx1"/>
                </a:solidFill>
              </a:rPr>
              <a:t>dBm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Data Range:</a:t>
            </a:r>
          </a:p>
          <a:p>
            <a:r>
              <a:rPr lang="en-US" dirty="0">
                <a:solidFill>
                  <a:schemeClr val="tx1"/>
                </a:solidFill>
              </a:rPr>
              <a:t>Signal Strength: –115 to –75 </a:t>
            </a:r>
            <a:r>
              <a:rPr lang="en-US" dirty="0" err="1">
                <a:solidFill>
                  <a:schemeClr val="tx1"/>
                </a:solidFill>
              </a:rPr>
              <a:t>dBm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Throughput: varies with signal</a:t>
            </a:r>
          </a:p>
          <a:p>
            <a:r>
              <a:rPr lang="en-US" dirty="0">
                <a:solidFill>
                  <a:schemeClr val="tx1"/>
                </a:solidFill>
              </a:rPr>
              <a:t>Latency: higher when signal is weak</a:t>
            </a:r>
          </a:p>
          <a:p>
            <a:r>
              <a:rPr lang="en-US" dirty="0">
                <a:solidFill>
                  <a:schemeClr val="tx1"/>
                </a:solidFill>
              </a:rPr>
              <a:t>Key Insight:</a:t>
            </a:r>
          </a:p>
          <a:p>
            <a:r>
              <a:rPr lang="en-US" dirty="0">
                <a:solidFill>
                  <a:schemeClr val="tx1"/>
                </a:solidFill>
              </a:rPr>
              <a:t> “Signal strength is strongly related to throughput and latency, and varies by location.”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8526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7571184" cy="936104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Preprocessing of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chemeClr val="tx1"/>
                </a:solidFill>
              </a:rPr>
              <a:t>Steps </a:t>
            </a:r>
            <a:r>
              <a:rPr lang="en-US" dirty="0">
                <a:solidFill>
                  <a:schemeClr val="tx1"/>
                </a:solidFill>
              </a:rPr>
              <a:t>performed: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Load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Handle missing GPS/environment entries.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Remove duplicate records.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Convert data types (float for coordinates, </a:t>
            </a:r>
            <a:r>
              <a:rPr lang="en-US" dirty="0" err="1">
                <a:solidFill>
                  <a:schemeClr val="tx1"/>
                </a:solidFill>
              </a:rPr>
              <a:t>int</a:t>
            </a:r>
            <a:r>
              <a:rPr lang="en-US" dirty="0">
                <a:solidFill>
                  <a:schemeClr val="tx1"/>
                </a:solidFill>
              </a:rPr>
              <a:t> for frequencies).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Encode categorical features (Tower ID, Environment).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Normalize values for distance and frequency.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2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3648" y="764704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import pandas as </a:t>
            </a:r>
            <a:r>
              <a:rPr lang="en-US" dirty="0" err="1"/>
              <a:t>pd</a:t>
            </a:r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</a:t>
            </a:r>
            <a:r>
              <a:rPr lang="en-US" dirty="0" err="1"/>
              <a:t>np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sklearn.preprocessing</a:t>
            </a:r>
            <a:r>
              <a:rPr lang="en-US" dirty="0"/>
              <a:t> import </a:t>
            </a:r>
            <a:r>
              <a:rPr lang="en-US" dirty="0" err="1" smtClean="0"/>
              <a:t>StandardScaler</a:t>
            </a:r>
            <a:endParaRPr lang="en-US" dirty="0"/>
          </a:p>
          <a:p>
            <a:r>
              <a:rPr lang="en-US" dirty="0" smtClean="0"/>
              <a:t># </a:t>
            </a:r>
            <a:r>
              <a:rPr lang="en-US" dirty="0"/>
              <a:t>1. LOAD DATA</a:t>
            </a:r>
          </a:p>
          <a:p>
            <a:r>
              <a:rPr lang="en-US" dirty="0" err="1" smtClean="0"/>
              <a:t>df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pd.read_csv</a:t>
            </a:r>
            <a:r>
              <a:rPr lang="en-US" dirty="0"/>
              <a:t>("signal_metrics.csv</a:t>
            </a:r>
            <a:r>
              <a:rPr lang="en-US" dirty="0" smtClean="0"/>
              <a:t>")</a:t>
            </a:r>
            <a:endParaRPr lang="en-US" dirty="0"/>
          </a:p>
          <a:p>
            <a:r>
              <a:rPr lang="en-US" dirty="0" smtClean="0"/>
              <a:t># </a:t>
            </a:r>
            <a:r>
              <a:rPr lang="en-US" dirty="0"/>
              <a:t>2. DROP USELESS / LOW INFORMATION COLUMNS</a:t>
            </a:r>
          </a:p>
          <a:p>
            <a:r>
              <a:rPr lang="en-US" dirty="0" err="1" smtClean="0"/>
              <a:t>drop_cols</a:t>
            </a:r>
            <a:r>
              <a:rPr lang="en-US" dirty="0" smtClean="0"/>
              <a:t> </a:t>
            </a:r>
            <a:r>
              <a:rPr lang="en-US" dirty="0"/>
              <a:t>= ["Signal Quality (%)"]      # contains all zeros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df.drop</a:t>
            </a:r>
            <a:r>
              <a:rPr lang="en-US" dirty="0"/>
              <a:t>(columns=</a:t>
            </a:r>
            <a:r>
              <a:rPr lang="en-US" dirty="0" err="1"/>
              <a:t>drop_cols</a:t>
            </a:r>
            <a:r>
              <a:rPr lang="en-US" dirty="0"/>
              <a:t>, errors="ignore</a:t>
            </a:r>
            <a:r>
              <a:rPr lang="en-US" dirty="0" smtClean="0"/>
              <a:t>")</a:t>
            </a:r>
            <a:endParaRPr lang="en-US" dirty="0"/>
          </a:p>
          <a:p>
            <a:r>
              <a:rPr lang="en-US" dirty="0" smtClean="0"/>
              <a:t># </a:t>
            </a:r>
            <a:r>
              <a:rPr lang="en-US" dirty="0"/>
              <a:t>3. REMOVE OUTLIERS</a:t>
            </a:r>
          </a:p>
          <a:p>
            <a:r>
              <a:rPr lang="en-US" dirty="0" smtClean="0"/>
              <a:t># </a:t>
            </a:r>
            <a:r>
              <a:rPr lang="en-US" dirty="0"/>
              <a:t>Remove unrealistic signal values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[(</a:t>
            </a:r>
            <a:r>
              <a:rPr lang="en-US" dirty="0" err="1"/>
              <a:t>df</a:t>
            </a:r>
            <a:r>
              <a:rPr lang="en-US" dirty="0"/>
              <a:t>["Signal Strength (</a:t>
            </a:r>
            <a:r>
              <a:rPr lang="en-US" dirty="0" err="1"/>
              <a:t>dBm</a:t>
            </a:r>
            <a:r>
              <a:rPr lang="en-US" dirty="0"/>
              <a:t>)"] &gt; -120) &amp; (</a:t>
            </a:r>
            <a:r>
              <a:rPr lang="en-US" dirty="0" err="1"/>
              <a:t>df</a:t>
            </a:r>
            <a:r>
              <a:rPr lang="en-US" dirty="0"/>
              <a:t>["Signal Strength (</a:t>
            </a:r>
            <a:r>
              <a:rPr lang="en-US" dirty="0" err="1"/>
              <a:t>dBm</a:t>
            </a:r>
            <a:r>
              <a:rPr lang="en-US" dirty="0"/>
              <a:t>)"] &lt; -40</a:t>
            </a:r>
            <a:r>
              <a:rPr lang="en-US" dirty="0" smtClean="0"/>
              <a:t>)]</a:t>
            </a:r>
            <a:endParaRPr lang="en-US" dirty="0"/>
          </a:p>
          <a:p>
            <a:r>
              <a:rPr lang="en-US" dirty="0"/>
              <a:t># Remove large latency &amp; throughput outliers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["Latency (</a:t>
            </a:r>
            <a:r>
              <a:rPr lang="en-US" dirty="0" err="1"/>
              <a:t>ms</a:t>
            </a:r>
            <a:r>
              <a:rPr lang="en-US" dirty="0"/>
              <a:t>)"] &lt; 500]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df</a:t>
            </a:r>
            <a:r>
              <a:rPr lang="en-US" dirty="0"/>
              <a:t>["Data Throughput (Mbps)"] &lt; 400]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23528" y="260648"/>
            <a:ext cx="24833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Code of Preprocessing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379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80932" y="510219"/>
            <a:ext cx="4572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# </a:t>
            </a:r>
            <a:r>
              <a:rPr lang="en-US" dirty="0"/>
              <a:t>6. SCALE NUMERICAL FEATURES</a:t>
            </a:r>
          </a:p>
          <a:p>
            <a:r>
              <a:rPr lang="en-US" dirty="0" err="1" smtClean="0"/>
              <a:t>scaler</a:t>
            </a:r>
            <a:r>
              <a:rPr lang="en-US" dirty="0" smtClean="0"/>
              <a:t> </a:t>
            </a:r>
            <a:r>
              <a:rPr lang="en-US" dirty="0"/>
              <a:t>= </a:t>
            </a:r>
            <a:r>
              <a:rPr lang="en-US" dirty="0" err="1"/>
              <a:t>StandardScaler</a:t>
            </a:r>
            <a:r>
              <a:rPr lang="en-US" dirty="0" smtClean="0"/>
              <a:t>()</a:t>
            </a:r>
            <a:endParaRPr lang="en-US" dirty="0"/>
          </a:p>
          <a:p>
            <a:r>
              <a:rPr lang="en-US" dirty="0" err="1"/>
              <a:t>num_cols</a:t>
            </a:r>
            <a:r>
              <a:rPr lang="en-US" dirty="0"/>
              <a:t> = [</a:t>
            </a:r>
          </a:p>
          <a:p>
            <a:r>
              <a:rPr lang="en-US" dirty="0"/>
              <a:t>    "Latitude",</a:t>
            </a:r>
          </a:p>
          <a:p>
            <a:r>
              <a:rPr lang="en-US" dirty="0"/>
              <a:t>    "Longitude",</a:t>
            </a:r>
          </a:p>
          <a:p>
            <a:r>
              <a:rPr lang="en-US" dirty="0"/>
              <a:t>    "Data Throughput (Mbps)",</a:t>
            </a:r>
          </a:p>
          <a:p>
            <a:r>
              <a:rPr lang="en-US" dirty="0"/>
              <a:t>    "Latency (</a:t>
            </a:r>
            <a:r>
              <a:rPr lang="en-US" dirty="0" err="1"/>
              <a:t>ms</a:t>
            </a:r>
            <a:r>
              <a:rPr lang="en-US" dirty="0"/>
              <a:t>)",</a:t>
            </a:r>
          </a:p>
          <a:p>
            <a:r>
              <a:rPr lang="en-US" dirty="0"/>
              <a:t>    "BB60C Measurement (</a:t>
            </a:r>
            <a:r>
              <a:rPr lang="en-US" dirty="0" err="1"/>
              <a:t>dBm</a:t>
            </a:r>
            <a:r>
              <a:rPr lang="en-US" dirty="0"/>
              <a:t>)",</a:t>
            </a:r>
          </a:p>
          <a:p>
            <a:r>
              <a:rPr lang="en-US" dirty="0"/>
              <a:t>    "</a:t>
            </a:r>
            <a:r>
              <a:rPr lang="en-US" dirty="0" err="1"/>
              <a:t>srsRAN</a:t>
            </a:r>
            <a:r>
              <a:rPr lang="en-US" dirty="0"/>
              <a:t> Measurement (</a:t>
            </a:r>
            <a:r>
              <a:rPr lang="en-US" dirty="0" err="1"/>
              <a:t>dBm</a:t>
            </a:r>
            <a:r>
              <a:rPr lang="en-US" dirty="0"/>
              <a:t>)",</a:t>
            </a:r>
          </a:p>
          <a:p>
            <a:r>
              <a:rPr lang="en-US" dirty="0"/>
              <a:t>    "BladeRFxA9 Measurement (</a:t>
            </a:r>
            <a:r>
              <a:rPr lang="en-US" dirty="0" err="1"/>
              <a:t>dBm</a:t>
            </a:r>
            <a:r>
              <a:rPr lang="en-US" dirty="0"/>
              <a:t>)"</a:t>
            </a:r>
          </a:p>
          <a:p>
            <a:r>
              <a:rPr lang="en-US" dirty="0" smtClean="0"/>
              <a:t>]</a:t>
            </a:r>
            <a:endParaRPr lang="en-US" dirty="0"/>
          </a:p>
          <a:p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num_cols</a:t>
            </a:r>
            <a:r>
              <a:rPr lang="en-US" dirty="0"/>
              <a:t>] = </a:t>
            </a:r>
            <a:r>
              <a:rPr lang="en-US" dirty="0" err="1"/>
              <a:t>scaler.fit_transform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</a:t>
            </a:r>
            <a:r>
              <a:rPr lang="en-US" dirty="0" err="1"/>
              <a:t>num_cols</a:t>
            </a:r>
            <a:r>
              <a:rPr lang="en-US" dirty="0"/>
              <a:t>])</a:t>
            </a:r>
          </a:p>
          <a:p>
            <a:r>
              <a:rPr lang="en-US" dirty="0" smtClean="0"/>
              <a:t># </a:t>
            </a:r>
            <a:r>
              <a:rPr lang="en-US" dirty="0"/>
              <a:t>7. SAVE CLEANED DATASET</a:t>
            </a:r>
          </a:p>
          <a:p>
            <a:r>
              <a:rPr lang="en-US" dirty="0" err="1" smtClean="0"/>
              <a:t>df.to_csv</a:t>
            </a:r>
            <a:r>
              <a:rPr lang="en-US" dirty="0"/>
              <a:t>("cleaned_signal_data.csv", index=False)</a:t>
            </a:r>
          </a:p>
          <a:p>
            <a:endParaRPr lang="en-US" dirty="0"/>
          </a:p>
          <a:p>
            <a:r>
              <a:rPr lang="en-US" dirty="0"/>
              <a:t>print("✅ Preprocessing Completed Successfully!")</a:t>
            </a:r>
          </a:p>
          <a:p>
            <a:r>
              <a:rPr lang="en-US" dirty="0"/>
              <a:t>print("✅ Clean file saved as: cleaned_signal_data.csv")</a:t>
            </a:r>
          </a:p>
        </p:txBody>
      </p:sp>
      <p:sp>
        <p:nvSpPr>
          <p:cNvPr id="3" name="Rectangle 2"/>
          <p:cNvSpPr/>
          <p:nvPr/>
        </p:nvSpPr>
        <p:spPr>
          <a:xfrm>
            <a:off x="179512" y="1052736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 4. HANDLE MISSING VALUES</a:t>
            </a:r>
          </a:p>
          <a:p>
            <a:r>
              <a:rPr lang="en-US" dirty="0"/>
              <a:t># Fill numeric missing values with column mean</a:t>
            </a:r>
          </a:p>
          <a:p>
            <a:r>
              <a:rPr lang="en-US" dirty="0"/>
              <a:t>for col in </a:t>
            </a:r>
            <a:r>
              <a:rPr lang="en-US" dirty="0" err="1"/>
              <a:t>df.select_dtypes</a:t>
            </a:r>
            <a:r>
              <a:rPr lang="en-US" dirty="0"/>
              <a:t>(include=</a:t>
            </a:r>
            <a:r>
              <a:rPr lang="en-US" dirty="0" err="1"/>
              <a:t>np.number</a:t>
            </a:r>
            <a:r>
              <a:rPr lang="en-US" dirty="0"/>
              <a:t>).columns:</a:t>
            </a:r>
          </a:p>
          <a:p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[col] = </a:t>
            </a:r>
            <a:r>
              <a:rPr lang="en-US" dirty="0" err="1"/>
              <a:t>df</a:t>
            </a:r>
            <a:r>
              <a:rPr lang="en-US" dirty="0"/>
              <a:t>[col].</a:t>
            </a:r>
            <a:r>
              <a:rPr lang="en-US" dirty="0" err="1"/>
              <a:t>fillna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[col].mean())</a:t>
            </a:r>
          </a:p>
          <a:p>
            <a:endParaRPr lang="en-US" dirty="0"/>
          </a:p>
          <a:p>
            <a:r>
              <a:rPr lang="en-US" dirty="0"/>
              <a:t># Fill categorical missing values with mode</a:t>
            </a:r>
          </a:p>
          <a:p>
            <a:r>
              <a:rPr lang="en-US" dirty="0"/>
              <a:t>for col in </a:t>
            </a:r>
            <a:r>
              <a:rPr lang="en-US" dirty="0" err="1"/>
              <a:t>df.select_dtypes</a:t>
            </a:r>
            <a:r>
              <a:rPr lang="en-US" dirty="0"/>
              <a:t>(include="object").columns:</a:t>
            </a:r>
          </a:p>
          <a:p>
            <a:r>
              <a:rPr lang="en-US" dirty="0"/>
              <a:t>    </a:t>
            </a:r>
            <a:r>
              <a:rPr lang="en-US" dirty="0" err="1"/>
              <a:t>df</a:t>
            </a:r>
            <a:r>
              <a:rPr lang="en-US" dirty="0"/>
              <a:t>[col] = </a:t>
            </a:r>
            <a:r>
              <a:rPr lang="en-US" dirty="0" err="1"/>
              <a:t>df</a:t>
            </a:r>
            <a:r>
              <a:rPr lang="en-US" dirty="0"/>
              <a:t>[col].</a:t>
            </a:r>
            <a:r>
              <a:rPr lang="en-US" dirty="0" err="1"/>
              <a:t>fillna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[col].mode()[0])</a:t>
            </a:r>
          </a:p>
          <a:p>
            <a:r>
              <a:rPr lang="en-US" dirty="0"/>
              <a:t># 5. ENCODE CATEGORICAL COLUMNS</a:t>
            </a:r>
          </a:p>
          <a:p>
            <a:r>
              <a:rPr lang="en-US" dirty="0" err="1"/>
              <a:t>df</a:t>
            </a:r>
            <a:r>
              <a:rPr lang="en-US" dirty="0"/>
              <a:t> = </a:t>
            </a:r>
            <a:r>
              <a:rPr lang="en-US" dirty="0" err="1"/>
              <a:t>pd.get_dummies</a:t>
            </a:r>
            <a:r>
              <a:rPr lang="en-US" dirty="0"/>
              <a:t>(</a:t>
            </a:r>
            <a:r>
              <a:rPr lang="en-US" dirty="0" err="1"/>
              <a:t>df</a:t>
            </a:r>
            <a:r>
              <a:rPr lang="en-US" dirty="0"/>
              <a:t>, columns=["Network Type"])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178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7704" y="2996952"/>
            <a:ext cx="52565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/>
              <a:t>THANK YOU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28496822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149</TotalTime>
  <Words>652</Words>
  <Application>Microsoft Office PowerPoint</Application>
  <PresentationFormat>On-screen Show (4:3)</PresentationFormat>
  <Paragraphs>115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Executive</vt:lpstr>
      <vt:lpstr>Mobile Network Signal Strength Prediction</vt:lpstr>
      <vt:lpstr>Introduction</vt:lpstr>
      <vt:lpstr> Problem Statements &amp; Objectives</vt:lpstr>
      <vt:lpstr>Literature Survey Table</vt:lpstr>
      <vt:lpstr>Tools Used</vt:lpstr>
      <vt:lpstr>Flow Chart</vt:lpstr>
      <vt:lpstr>Dataset Analysis</vt:lpstr>
      <vt:lpstr>Preprocessing of data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Network Signal Strength Prediction</dc:title>
  <dc:creator>poojitha</dc:creator>
  <cp:lastModifiedBy>poojitha</cp:lastModifiedBy>
  <cp:revision>11</cp:revision>
  <dcterms:created xsi:type="dcterms:W3CDTF">2025-09-22T14:07:22Z</dcterms:created>
  <dcterms:modified xsi:type="dcterms:W3CDTF">2025-11-03T05:29:54Z</dcterms:modified>
</cp:coreProperties>
</file>