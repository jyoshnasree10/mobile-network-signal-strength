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ITC Benguiat" charset="0"/>
      <p:regular r:id="rId12"/>
    </p:embeddedFont>
    <p:embeddedFont>
      <p:font typeface="Canva Sans" charset="0"/>
      <p:regular r:id="rId13"/>
    </p:embeddedFont>
    <p:embeddedFont>
      <p:font typeface="Calibri" pitchFamily="34" charset="0"/>
      <p:regular r:id="rId14"/>
      <p:bold r:id="rId15"/>
      <p:italic r:id="rId16"/>
      <p:boldItalic r:id="rId17"/>
    </p:embeddedFont>
    <p:embeddedFont>
      <p:font typeface="Fredoka" charset="0"/>
      <p:regular r:id="rId18"/>
    </p:embeddedFont>
    <p:embeddedFont>
      <p:font typeface="Quicksand" charset="0"/>
      <p:regular r:id="rId19"/>
    </p:embeddedFont>
    <p:embeddedFont>
      <p:font typeface="Canva Sans Bold" charset="0"/>
      <p:regular r:id="rId20"/>
    </p:embeddedFont>
    <p:embeddedFont>
      <p:font typeface="SK Concretica"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696"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14421586" y="8450580"/>
            <a:ext cx="2837714" cy="805478"/>
            <a:chOff x="0" y="0"/>
            <a:chExt cx="747382" cy="212142"/>
          </a:xfrm>
        </p:grpSpPr>
        <p:sp>
          <p:nvSpPr>
            <p:cNvPr id="3" name="Freeform 3"/>
            <p:cNvSpPr/>
            <p:nvPr/>
          </p:nvSpPr>
          <p:spPr>
            <a:xfrm>
              <a:off x="0" y="0"/>
              <a:ext cx="747382" cy="212142"/>
            </a:xfrm>
            <a:custGeom>
              <a:avLst/>
              <a:gdLst/>
              <a:ahLst/>
              <a:cxnLst/>
              <a:rect l="l" t="t" r="r" b="b"/>
              <a:pathLst>
                <a:path w="747382" h="212142">
                  <a:moveTo>
                    <a:pt x="0" y="0"/>
                  </a:moveTo>
                  <a:lnTo>
                    <a:pt x="747382" y="0"/>
                  </a:lnTo>
                  <a:lnTo>
                    <a:pt x="747382" y="212142"/>
                  </a:lnTo>
                  <a:lnTo>
                    <a:pt x="0" y="212142"/>
                  </a:lnTo>
                  <a:close/>
                </a:path>
              </a:pathLst>
            </a:custGeom>
            <a:solidFill>
              <a:srgbClr val="FFFFFF"/>
            </a:solidFill>
          </p:spPr>
        </p:sp>
        <p:sp>
          <p:nvSpPr>
            <p:cNvPr id="4" name="TextBox 4"/>
            <p:cNvSpPr txBox="1"/>
            <p:nvPr/>
          </p:nvSpPr>
          <p:spPr>
            <a:xfrm>
              <a:off x="0" y="-38100"/>
              <a:ext cx="747382" cy="250242"/>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5069246" y="8558996"/>
            <a:ext cx="5524500" cy="502920"/>
          </a:xfrm>
          <a:prstGeom prst="rect">
            <a:avLst/>
          </a:prstGeom>
        </p:spPr>
        <p:txBody>
          <a:bodyPr lIns="0" tIns="0" rIns="0" bIns="0" rtlCol="0" anchor="t">
            <a:spAutoFit/>
          </a:bodyPr>
          <a:lstStyle/>
          <a:p>
            <a:pPr marL="0" lvl="0" indent="0" algn="l">
              <a:lnSpc>
                <a:spcPts val="4199"/>
              </a:lnSpc>
              <a:spcBef>
                <a:spcPct val="0"/>
              </a:spcBef>
            </a:pPr>
            <a:r>
              <a:rPr lang="en-US" sz="2799">
                <a:solidFill>
                  <a:srgbClr val="000000"/>
                </a:solidFill>
                <a:latin typeface="Quicksand"/>
                <a:ea typeface="Quicksand"/>
                <a:cs typeface="Quicksand"/>
                <a:sym typeface="Quicksand"/>
              </a:rPr>
              <a:t>Group-4</a:t>
            </a:r>
          </a:p>
        </p:txBody>
      </p:sp>
      <p:sp>
        <p:nvSpPr>
          <p:cNvPr id="6" name="TextBox 6"/>
          <p:cNvSpPr txBox="1"/>
          <p:nvPr/>
        </p:nvSpPr>
        <p:spPr>
          <a:xfrm>
            <a:off x="1694657" y="4953670"/>
            <a:ext cx="15583138" cy="598736"/>
          </a:xfrm>
          <a:prstGeom prst="rect">
            <a:avLst/>
          </a:prstGeom>
        </p:spPr>
        <p:txBody>
          <a:bodyPr lIns="0" tIns="0" rIns="0" bIns="0" rtlCol="0" anchor="t">
            <a:spAutoFit/>
          </a:bodyPr>
          <a:lstStyle/>
          <a:p>
            <a:pPr algn="l">
              <a:lnSpc>
                <a:spcPts val="4031"/>
              </a:lnSpc>
            </a:pPr>
            <a:r>
              <a:rPr lang="en-US" sz="5375" b="1" spc="-53">
                <a:solidFill>
                  <a:srgbClr val="FFDE59"/>
                </a:solidFill>
                <a:latin typeface="Neue Machina Ultra-Bold"/>
                <a:ea typeface="Neue Machina Ultra-Bold"/>
                <a:cs typeface="Neue Machina Ultra-Bold"/>
                <a:sym typeface="Neue Machina Ultra-Bold"/>
              </a:rPr>
              <a:t>Mobile Network Signal Strength Predictor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4460215" y="297581"/>
            <a:ext cx="8782308" cy="1259244"/>
          </a:xfrm>
          <a:prstGeom prst="rect">
            <a:avLst/>
          </a:prstGeom>
        </p:spPr>
        <p:txBody>
          <a:bodyPr lIns="0" tIns="0" rIns="0" bIns="0" rtlCol="0" anchor="t">
            <a:spAutoFit/>
          </a:bodyPr>
          <a:lstStyle/>
          <a:p>
            <a:pPr algn="ctr">
              <a:lnSpc>
                <a:spcPts val="7920"/>
              </a:lnSpc>
            </a:pPr>
            <a:r>
              <a:rPr lang="en-US" sz="8801">
                <a:solidFill>
                  <a:srgbClr val="D0A933"/>
                </a:solidFill>
                <a:latin typeface="ITC Benguiat"/>
                <a:ea typeface="ITC Benguiat"/>
                <a:cs typeface="ITC Benguiat"/>
                <a:sym typeface="ITC Benguiat"/>
              </a:rPr>
              <a:t>INTRODUCTION</a:t>
            </a:r>
          </a:p>
        </p:txBody>
      </p:sp>
      <p:sp>
        <p:nvSpPr>
          <p:cNvPr id="3" name="TextBox 3"/>
          <p:cNvSpPr txBox="1"/>
          <p:nvPr/>
        </p:nvSpPr>
        <p:spPr>
          <a:xfrm>
            <a:off x="1028700" y="3179975"/>
            <a:ext cx="16368670" cy="5129027"/>
          </a:xfrm>
          <a:prstGeom prst="rect">
            <a:avLst/>
          </a:prstGeom>
        </p:spPr>
        <p:txBody>
          <a:bodyPr lIns="0" tIns="0" rIns="0" bIns="0" rtlCol="0" anchor="t">
            <a:spAutoFit/>
          </a:bodyPr>
          <a:lstStyle/>
          <a:p>
            <a:pPr algn="just">
              <a:lnSpc>
                <a:spcPts val="3759"/>
              </a:lnSpc>
              <a:spcBef>
                <a:spcPct val="0"/>
              </a:spcBef>
            </a:pPr>
            <a:r>
              <a:rPr lang="en-US" sz="2506">
                <a:solidFill>
                  <a:srgbClr val="FFFFFF"/>
                </a:solidFill>
                <a:latin typeface="Quicksand"/>
                <a:ea typeface="Quicksand"/>
                <a:cs typeface="Quicksand"/>
                <a:sym typeface="Quicksand"/>
              </a:rPr>
              <a:t>A Mobile Network and Signal Strength Predictor is a system that helps us find out how strong the mobile signal will be at a particular place. It can also suggest which mobile network (like Jio, Airtel, VI, etc.) gives the best signal in that area.</a:t>
            </a:r>
          </a:p>
          <a:p>
            <a:pPr algn="just">
              <a:lnSpc>
                <a:spcPts val="3759"/>
              </a:lnSpc>
              <a:spcBef>
                <a:spcPct val="0"/>
              </a:spcBef>
            </a:pPr>
            <a:endParaRPr lang="en-US" sz="2506">
              <a:solidFill>
                <a:srgbClr val="FFFFFF"/>
              </a:solidFill>
              <a:latin typeface="Quicksand"/>
              <a:ea typeface="Quicksand"/>
              <a:cs typeface="Quicksand"/>
              <a:sym typeface="Quicksand"/>
            </a:endParaRPr>
          </a:p>
          <a:p>
            <a:pPr algn="just">
              <a:lnSpc>
                <a:spcPts val="3759"/>
              </a:lnSpc>
              <a:spcBef>
                <a:spcPct val="0"/>
              </a:spcBef>
            </a:pPr>
            <a:r>
              <a:rPr lang="en-US" sz="2506">
                <a:solidFill>
                  <a:srgbClr val="FFFFFF"/>
                </a:solidFill>
                <a:latin typeface="Quicksand"/>
                <a:ea typeface="Quicksand"/>
                <a:cs typeface="Quicksand"/>
                <a:sym typeface="Quicksand"/>
              </a:rPr>
              <a:t>This tool is useful for:</a:t>
            </a:r>
          </a:p>
          <a:p>
            <a:pPr algn="just">
              <a:lnSpc>
                <a:spcPts val="3759"/>
              </a:lnSpc>
              <a:spcBef>
                <a:spcPct val="0"/>
              </a:spcBef>
            </a:pPr>
            <a:endParaRPr lang="en-US" sz="2506">
              <a:solidFill>
                <a:srgbClr val="FFFFFF"/>
              </a:solidFill>
              <a:latin typeface="Quicksand"/>
              <a:ea typeface="Quicksand"/>
              <a:cs typeface="Quicksand"/>
              <a:sym typeface="Quicksand"/>
            </a:endParaRPr>
          </a:p>
          <a:p>
            <a:pPr algn="just">
              <a:lnSpc>
                <a:spcPts val="3759"/>
              </a:lnSpc>
              <a:spcBef>
                <a:spcPct val="0"/>
              </a:spcBef>
            </a:pPr>
            <a:r>
              <a:rPr lang="en-US" sz="2506">
                <a:solidFill>
                  <a:srgbClr val="FFFFFF"/>
                </a:solidFill>
                <a:latin typeface="Quicksand"/>
                <a:ea typeface="Quicksand"/>
                <a:cs typeface="Quicksand"/>
                <a:sym typeface="Quicksand"/>
              </a:rPr>
              <a:t>Users who want better mobile signal.</a:t>
            </a:r>
          </a:p>
          <a:p>
            <a:pPr algn="just">
              <a:lnSpc>
                <a:spcPts val="3759"/>
              </a:lnSpc>
              <a:spcBef>
                <a:spcPct val="0"/>
              </a:spcBef>
            </a:pPr>
            <a:endParaRPr lang="en-US" sz="2506">
              <a:solidFill>
                <a:srgbClr val="FFFFFF"/>
              </a:solidFill>
              <a:latin typeface="Quicksand"/>
              <a:ea typeface="Quicksand"/>
              <a:cs typeface="Quicksand"/>
              <a:sym typeface="Quicksand"/>
            </a:endParaRPr>
          </a:p>
          <a:p>
            <a:pPr algn="just">
              <a:lnSpc>
                <a:spcPts val="3759"/>
              </a:lnSpc>
              <a:spcBef>
                <a:spcPct val="0"/>
              </a:spcBef>
            </a:pPr>
            <a:r>
              <a:rPr lang="en-US" sz="2506">
                <a:solidFill>
                  <a:srgbClr val="FFFFFF"/>
                </a:solidFill>
                <a:latin typeface="Quicksand"/>
                <a:ea typeface="Quicksand"/>
                <a:cs typeface="Quicksand"/>
                <a:sym typeface="Quicksand"/>
              </a:rPr>
              <a:t>Companies who want to build better network coverage.</a:t>
            </a:r>
          </a:p>
          <a:p>
            <a:pPr algn="just">
              <a:lnSpc>
                <a:spcPts val="3759"/>
              </a:lnSpc>
              <a:spcBef>
                <a:spcPct val="0"/>
              </a:spcBef>
            </a:pPr>
            <a:endParaRPr lang="en-US" sz="2506">
              <a:solidFill>
                <a:srgbClr val="FFFFFF"/>
              </a:solidFill>
              <a:latin typeface="Quicksand"/>
              <a:ea typeface="Quicksand"/>
              <a:cs typeface="Quicksand"/>
              <a:sym typeface="Quicksand"/>
            </a:endParaRPr>
          </a:p>
          <a:p>
            <a:pPr algn="just">
              <a:lnSpc>
                <a:spcPts val="3759"/>
              </a:lnSpc>
              <a:spcBef>
                <a:spcPct val="0"/>
              </a:spcBef>
            </a:pPr>
            <a:r>
              <a:rPr lang="en-US" sz="2506">
                <a:solidFill>
                  <a:srgbClr val="FFFFFF"/>
                </a:solidFill>
                <a:latin typeface="Quicksand"/>
                <a:ea typeface="Quicksand"/>
                <a:cs typeface="Quicksand"/>
                <a:sym typeface="Quicksand"/>
              </a:rPr>
              <a:t>Planning better connectivity in cities or rural areas.</a:t>
            </a:r>
          </a:p>
        </p:txBody>
      </p:sp>
      <p:sp>
        <p:nvSpPr>
          <p:cNvPr id="4" name="Freeform 4"/>
          <p:cNvSpPr/>
          <p:nvPr/>
        </p:nvSpPr>
        <p:spPr>
          <a:xfrm rot="-2700000">
            <a:off x="10486911" y="3575488"/>
            <a:ext cx="10707063" cy="8458580"/>
          </a:xfrm>
          <a:custGeom>
            <a:avLst/>
            <a:gdLst/>
            <a:ahLst/>
            <a:cxnLst/>
            <a:rect l="l" t="t" r="r" b="b"/>
            <a:pathLst>
              <a:path w="10707063" h="8458580">
                <a:moveTo>
                  <a:pt x="0" y="0"/>
                </a:moveTo>
                <a:lnTo>
                  <a:pt x="10707063" y="0"/>
                </a:lnTo>
                <a:lnTo>
                  <a:pt x="10707063" y="8458580"/>
                </a:lnTo>
                <a:lnTo>
                  <a:pt x="0" y="8458580"/>
                </a:lnTo>
                <a:lnTo>
                  <a:pt x="0" y="0"/>
                </a:lnTo>
                <a:close/>
              </a:path>
            </a:pathLst>
          </a:custGeom>
          <a:blipFill>
            <a:blip r:embed="rId2">
              <a:alphaModFix amt="9999"/>
              <a:extLst>
                <a:ext uri="{96DAC541-7B7A-43D3-8B79-37D633B846F1}">
                  <asvg:svgBlip xmlns:asvg="http://schemas.microsoft.com/office/drawing/2016/SVG/main" xmlns="" r:embed="rId3"/>
                </a:ext>
              </a:extLst>
            </a:blip>
            <a:stretch>
              <a:fillRect/>
            </a:stretch>
          </a:blipFill>
        </p:spPr>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871130" y="-2802763"/>
            <a:ext cx="16230600" cy="4322508"/>
            <a:chOff x="0" y="0"/>
            <a:chExt cx="21640800" cy="5763344"/>
          </a:xfrm>
        </p:grpSpPr>
        <p:sp>
          <p:nvSpPr>
            <p:cNvPr id="3" name="TextBox 3"/>
            <p:cNvSpPr txBox="1"/>
            <p:nvPr/>
          </p:nvSpPr>
          <p:spPr>
            <a:xfrm>
              <a:off x="0" y="1628775"/>
              <a:ext cx="21640800" cy="4134569"/>
            </a:xfrm>
            <a:prstGeom prst="rect">
              <a:avLst/>
            </a:prstGeom>
          </p:spPr>
          <p:txBody>
            <a:bodyPr lIns="0" tIns="0" rIns="0" bIns="0" rtlCol="0" anchor="t">
              <a:spAutoFit/>
            </a:bodyPr>
            <a:lstStyle/>
            <a:p>
              <a:pPr algn="ctr">
                <a:lnSpc>
                  <a:spcPts val="17056"/>
                </a:lnSpc>
              </a:pPr>
              <a:endParaRPr/>
            </a:p>
          </p:txBody>
        </p:sp>
        <p:sp>
          <p:nvSpPr>
            <p:cNvPr id="4" name="TextBox 4"/>
            <p:cNvSpPr txBox="1"/>
            <p:nvPr/>
          </p:nvSpPr>
          <p:spPr>
            <a:xfrm>
              <a:off x="2130844" y="4296489"/>
              <a:ext cx="17207188" cy="1223159"/>
            </a:xfrm>
            <a:prstGeom prst="rect">
              <a:avLst/>
            </a:prstGeom>
          </p:spPr>
          <p:txBody>
            <a:bodyPr lIns="0" tIns="0" rIns="0" bIns="0" rtlCol="0" anchor="t">
              <a:spAutoFit/>
            </a:bodyPr>
            <a:lstStyle/>
            <a:p>
              <a:pPr algn="ctr">
                <a:lnSpc>
                  <a:spcPts val="6648"/>
                </a:lnSpc>
              </a:pPr>
              <a:r>
                <a:rPr lang="en-US" sz="6044" spc="906">
                  <a:solidFill>
                    <a:srgbClr val="9DAFBF"/>
                  </a:solidFill>
                  <a:latin typeface="SK Concretica"/>
                  <a:ea typeface="SK Concretica"/>
                  <a:cs typeface="SK Concretica"/>
                  <a:sym typeface="SK Concretica"/>
                </a:rPr>
                <a:t>RESEARCH PAPER-1</a:t>
              </a:r>
            </a:p>
          </p:txBody>
        </p:sp>
      </p:grpSp>
      <p:sp>
        <p:nvSpPr>
          <p:cNvPr id="5" name="TextBox 5"/>
          <p:cNvSpPr txBox="1"/>
          <p:nvPr/>
        </p:nvSpPr>
        <p:spPr>
          <a:xfrm>
            <a:off x="4585286" y="1941289"/>
            <a:ext cx="8575479" cy="759764"/>
          </a:xfrm>
          <a:prstGeom prst="rect">
            <a:avLst/>
          </a:prstGeom>
        </p:spPr>
        <p:txBody>
          <a:bodyPr lIns="0" tIns="0" rIns="0" bIns="0" rtlCol="0" anchor="t">
            <a:spAutoFit/>
          </a:bodyPr>
          <a:lstStyle/>
          <a:p>
            <a:pPr algn="ctr">
              <a:lnSpc>
                <a:spcPts val="1902"/>
              </a:lnSpc>
            </a:pPr>
            <a:r>
              <a:rPr lang="en-US" sz="2377" b="1">
                <a:solidFill>
                  <a:srgbClr val="FFDE59"/>
                </a:solidFill>
                <a:latin typeface="Pinata Marks Ultra-Bold"/>
                <a:ea typeface="Pinata Marks Ultra-Bold"/>
                <a:cs typeface="Pinata Marks Ultra-Bold"/>
                <a:sym typeface="Pinata Marks Ultra-Bold"/>
              </a:rPr>
              <a:t>📝 Paper Title:</a:t>
            </a:r>
          </a:p>
          <a:p>
            <a:pPr algn="ctr">
              <a:lnSpc>
                <a:spcPts val="1902"/>
              </a:lnSpc>
            </a:pPr>
            <a:r>
              <a:rPr lang="en-US" sz="2377" b="1">
                <a:solidFill>
                  <a:srgbClr val="FFDE59"/>
                </a:solidFill>
                <a:latin typeface="Pinata Marks Ultra-Bold"/>
                <a:ea typeface="Pinata Marks Ultra-Bold"/>
                <a:cs typeface="Pinata Marks Ultra-Bold"/>
                <a:sym typeface="Pinata Marks Ultra-Bold"/>
              </a:rPr>
              <a:t>"Cellular Network Signal Strength Analyser"</a:t>
            </a:r>
          </a:p>
          <a:p>
            <a:pPr algn="ctr">
              <a:lnSpc>
                <a:spcPts val="1902"/>
              </a:lnSpc>
            </a:pPr>
            <a:endParaRPr lang="en-US" sz="2377" b="1">
              <a:solidFill>
                <a:srgbClr val="FFDE59"/>
              </a:solidFill>
              <a:latin typeface="Pinata Marks Ultra-Bold"/>
              <a:ea typeface="Pinata Marks Ultra-Bold"/>
              <a:cs typeface="Pinata Marks Ultra-Bold"/>
              <a:sym typeface="Pinata Marks Ultra-Bold"/>
            </a:endParaRPr>
          </a:p>
        </p:txBody>
      </p:sp>
      <p:sp>
        <p:nvSpPr>
          <p:cNvPr id="6" name="TextBox 6"/>
          <p:cNvSpPr txBox="1"/>
          <p:nvPr/>
        </p:nvSpPr>
        <p:spPr>
          <a:xfrm>
            <a:off x="2073010" y="2531856"/>
            <a:ext cx="2350413" cy="739141"/>
          </a:xfrm>
          <a:prstGeom prst="rect">
            <a:avLst/>
          </a:prstGeom>
        </p:spPr>
        <p:txBody>
          <a:bodyPr lIns="0" tIns="0" rIns="0" bIns="0" rtlCol="0" anchor="t">
            <a:spAutoFit/>
          </a:bodyPr>
          <a:lstStyle/>
          <a:p>
            <a:pPr algn="ctr">
              <a:lnSpc>
                <a:spcPts val="6149"/>
              </a:lnSpc>
              <a:spcBef>
                <a:spcPct val="0"/>
              </a:spcBef>
            </a:pPr>
            <a:r>
              <a:rPr lang="en-US" sz="4099">
                <a:solidFill>
                  <a:srgbClr val="0CC0DF"/>
                </a:solidFill>
                <a:latin typeface="Quicksand"/>
                <a:ea typeface="Quicksand"/>
                <a:cs typeface="Quicksand"/>
                <a:sym typeface="Quicksand"/>
              </a:rPr>
              <a:t>Summary</a:t>
            </a:r>
          </a:p>
        </p:txBody>
      </p:sp>
      <p:sp>
        <p:nvSpPr>
          <p:cNvPr id="7" name="TextBox 7"/>
          <p:cNvSpPr txBox="1"/>
          <p:nvPr/>
        </p:nvSpPr>
        <p:spPr>
          <a:xfrm>
            <a:off x="247610" y="3690953"/>
            <a:ext cx="6401477" cy="5722842"/>
          </a:xfrm>
          <a:prstGeom prst="rect">
            <a:avLst/>
          </a:prstGeom>
        </p:spPr>
        <p:txBody>
          <a:bodyPr lIns="0" tIns="0" rIns="0" bIns="0" rtlCol="0" anchor="t">
            <a:spAutoFit/>
          </a:bodyPr>
          <a:lstStyle/>
          <a:p>
            <a:pPr algn="l">
              <a:lnSpc>
                <a:spcPts val="3242"/>
              </a:lnSpc>
            </a:pPr>
            <a:r>
              <a:rPr lang="en-US" sz="2316">
                <a:solidFill>
                  <a:srgbClr val="FFFFFF"/>
                </a:solidFill>
                <a:latin typeface="Canva Sans"/>
                <a:ea typeface="Canva Sans"/>
                <a:cs typeface="Canva Sans"/>
                <a:sym typeface="Canva Sans"/>
              </a:rPr>
              <a:t>This paper talks about a system that checks how strong the mobile network signal is in different places like your house, terrace, kitchen, or even in rural areas. It uses tools to measure things like signal strength (RSSI), how clear the signal is (SNR), and how much interference there is (SINR). The system helps find places with weak signals (called “dead zones”) and suggests ways to fix them using signal boosters, Wi-Fi calling, or better antenna placement. It also helps mobile companies improve their network by placing towers in the right spots and managing network traffic using real-time data.</a:t>
            </a:r>
          </a:p>
        </p:txBody>
      </p:sp>
      <p:sp>
        <p:nvSpPr>
          <p:cNvPr id="8" name="TextBox 8"/>
          <p:cNvSpPr txBox="1"/>
          <p:nvPr/>
        </p:nvSpPr>
        <p:spPr>
          <a:xfrm>
            <a:off x="13995939" y="2596277"/>
            <a:ext cx="2920461" cy="730969"/>
          </a:xfrm>
          <a:prstGeom prst="rect">
            <a:avLst/>
          </a:prstGeom>
        </p:spPr>
        <p:txBody>
          <a:bodyPr wrap="square" lIns="0" tIns="0" rIns="0" bIns="0" rtlCol="0" anchor="t">
            <a:spAutoFit/>
          </a:bodyPr>
          <a:lstStyle/>
          <a:p>
            <a:pPr algn="ctr">
              <a:lnSpc>
                <a:spcPts val="5737"/>
              </a:lnSpc>
              <a:spcBef>
                <a:spcPct val="0"/>
              </a:spcBef>
            </a:pPr>
            <a:r>
              <a:rPr lang="en-US" sz="3825" dirty="0">
                <a:solidFill>
                  <a:srgbClr val="0CC0DF"/>
                </a:solidFill>
                <a:latin typeface="Quicksand"/>
                <a:ea typeface="Quicksand"/>
                <a:cs typeface="Quicksand"/>
                <a:sym typeface="Quicksand"/>
              </a:rPr>
              <a:t>Drawbacks</a:t>
            </a:r>
          </a:p>
        </p:txBody>
      </p:sp>
      <p:sp>
        <p:nvSpPr>
          <p:cNvPr id="9" name="TextBox 9"/>
          <p:cNvSpPr txBox="1"/>
          <p:nvPr/>
        </p:nvSpPr>
        <p:spPr>
          <a:xfrm>
            <a:off x="7981722" y="3690953"/>
            <a:ext cx="10306278" cy="4286813"/>
          </a:xfrm>
          <a:prstGeom prst="rect">
            <a:avLst/>
          </a:prstGeom>
        </p:spPr>
        <p:txBody>
          <a:bodyPr lIns="0" tIns="0" rIns="0" bIns="0" rtlCol="0" anchor="t">
            <a:spAutoFit/>
          </a:bodyPr>
          <a:lstStyle/>
          <a:p>
            <a:pPr marL="480988" lvl="1" indent="-240494" algn="l">
              <a:lnSpc>
                <a:spcPts val="3118"/>
              </a:lnSpc>
              <a:buAutoNum type="arabicPeriod"/>
            </a:pPr>
            <a:r>
              <a:rPr lang="en-US" sz="2227">
                <a:solidFill>
                  <a:srgbClr val="FFFFFF"/>
                </a:solidFill>
                <a:latin typeface="Canva Sans"/>
                <a:ea typeface="Canva Sans"/>
                <a:cs typeface="Canva Sans"/>
                <a:sym typeface="Canva Sans"/>
              </a:rPr>
              <a:t>Needs good network setup – If the area doesn't have enough towers or signal, the system won’t work well.</a:t>
            </a:r>
          </a:p>
          <a:p>
            <a:pPr marL="480988" lvl="1" indent="-240494" algn="l">
              <a:lnSpc>
                <a:spcPts val="3118"/>
              </a:lnSpc>
              <a:buAutoNum type="arabicPeriod"/>
            </a:pPr>
            <a:r>
              <a:rPr lang="en-US" sz="2227">
                <a:solidFill>
                  <a:srgbClr val="FFFFFF"/>
                </a:solidFill>
                <a:latin typeface="Canva Sans"/>
                <a:ea typeface="Canva Sans"/>
                <a:cs typeface="Canva Sans"/>
                <a:sym typeface="Canva Sans"/>
              </a:rPr>
              <a:t>Difficult to set up – You need special tools and software, which can be hard and costly to install.</a:t>
            </a:r>
          </a:p>
          <a:p>
            <a:pPr marL="480988" lvl="1" indent="-240494" algn="l">
              <a:lnSpc>
                <a:spcPts val="3118"/>
              </a:lnSpc>
              <a:buAutoNum type="arabicPeriod"/>
            </a:pPr>
            <a:r>
              <a:rPr lang="en-US" sz="2227">
                <a:solidFill>
                  <a:srgbClr val="FFFFFF"/>
                </a:solidFill>
                <a:latin typeface="Canva Sans"/>
                <a:ea typeface="Canva Sans"/>
                <a:cs typeface="Canva Sans"/>
                <a:sym typeface="Canva Sans"/>
              </a:rPr>
              <a:t>Doesn’t work well in remote areas – In villages or faraway places, signals are too weak to measure properly.</a:t>
            </a:r>
          </a:p>
          <a:p>
            <a:pPr marL="480988" lvl="1" indent="-240494" algn="l">
              <a:lnSpc>
                <a:spcPts val="3118"/>
              </a:lnSpc>
              <a:buAutoNum type="arabicPeriod"/>
            </a:pPr>
            <a:r>
              <a:rPr lang="en-US" sz="2227">
                <a:solidFill>
                  <a:srgbClr val="FFFFFF"/>
                </a:solidFill>
                <a:latin typeface="Canva Sans"/>
                <a:ea typeface="Canva Sans"/>
                <a:cs typeface="Canva Sans"/>
                <a:sym typeface="Canva Sans"/>
              </a:rPr>
              <a:t>Surroundings can affect results – Walls, buildings, or even weather can change the signal, making results less accurate.</a:t>
            </a:r>
          </a:p>
          <a:p>
            <a:pPr marL="480988" lvl="1" indent="-240494" algn="l">
              <a:lnSpc>
                <a:spcPts val="3118"/>
              </a:lnSpc>
              <a:buAutoNum type="arabicPeriod"/>
            </a:pPr>
            <a:r>
              <a:rPr lang="en-US" sz="2227">
                <a:solidFill>
                  <a:srgbClr val="FFFFFF"/>
                </a:solidFill>
                <a:latin typeface="Canva Sans"/>
                <a:ea typeface="Canva Sans"/>
                <a:cs typeface="Canva Sans"/>
                <a:sym typeface="Canva Sans"/>
              </a:rPr>
              <a:t>Not always consistent – The same place may give different results at different times due to interference.</a:t>
            </a:r>
          </a:p>
          <a:p>
            <a:pPr algn="l">
              <a:lnSpc>
                <a:spcPts val="3118"/>
              </a:lnSpc>
            </a:pPr>
            <a:endParaRPr lang="en-US" sz="2227">
              <a:solidFill>
                <a:srgbClr val="FFFFFF"/>
              </a:solidFill>
              <a:latin typeface="Canva Sans"/>
              <a:ea typeface="Canva Sans"/>
              <a:cs typeface="Canva Sans"/>
              <a:sym typeface="Canva Sans"/>
            </a:endParaRP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7412736" y="537527"/>
            <a:ext cx="4626864" cy="936154"/>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OBJECTIVES</a:t>
            </a:r>
          </a:p>
        </p:txBody>
      </p:sp>
      <p:sp>
        <p:nvSpPr>
          <p:cNvPr id="3" name="TextBox 3"/>
          <p:cNvSpPr txBox="1"/>
          <p:nvPr/>
        </p:nvSpPr>
        <p:spPr>
          <a:xfrm>
            <a:off x="0" y="3061761"/>
            <a:ext cx="17556141" cy="4100749"/>
          </a:xfrm>
          <a:prstGeom prst="rect">
            <a:avLst/>
          </a:prstGeom>
        </p:spPr>
        <p:txBody>
          <a:bodyPr lIns="0" tIns="0" rIns="0" bIns="0" rtlCol="0" anchor="t">
            <a:spAutoFit/>
          </a:bodyPr>
          <a:lstStyle/>
          <a:p>
            <a:pPr algn="ctr">
              <a:lnSpc>
                <a:spcPts val="4274"/>
              </a:lnSpc>
              <a:spcBef>
                <a:spcPct val="0"/>
              </a:spcBef>
            </a:pPr>
            <a:endParaRPr/>
          </a:p>
          <a:p>
            <a:pPr algn="ctr">
              <a:lnSpc>
                <a:spcPts val="3574"/>
              </a:lnSpc>
              <a:spcBef>
                <a:spcPct val="0"/>
              </a:spcBef>
            </a:pPr>
            <a:r>
              <a:rPr lang="en-US" sz="2553" b="1">
                <a:solidFill>
                  <a:srgbClr val="FFFFFF"/>
                </a:solidFill>
                <a:latin typeface="Pinata Marks Ultra-Bold"/>
                <a:ea typeface="Pinata Marks Ultra-Bold"/>
                <a:cs typeface="Pinata Marks Ultra-Bold"/>
                <a:sym typeface="Pinata Marks Ultra-Bold"/>
              </a:rPr>
              <a:t>To predict mobile network signal strength based on location and environment.</a:t>
            </a:r>
          </a:p>
          <a:p>
            <a:pPr algn="ctr">
              <a:lnSpc>
                <a:spcPts val="3574"/>
              </a:lnSpc>
              <a:spcBef>
                <a:spcPct val="0"/>
              </a:spcBef>
            </a:pPr>
            <a:endParaRPr lang="en-US" sz="2553" b="1">
              <a:solidFill>
                <a:srgbClr val="FFFFFF"/>
              </a:solidFill>
              <a:latin typeface="Pinata Marks Ultra-Bold"/>
              <a:ea typeface="Pinata Marks Ultra-Bold"/>
              <a:cs typeface="Pinata Marks Ultra-Bold"/>
              <a:sym typeface="Pinata Marks Ultra-Bold"/>
            </a:endParaRPr>
          </a:p>
          <a:p>
            <a:pPr algn="ctr">
              <a:lnSpc>
                <a:spcPts val="3574"/>
              </a:lnSpc>
              <a:spcBef>
                <a:spcPct val="0"/>
              </a:spcBef>
            </a:pPr>
            <a:r>
              <a:rPr lang="en-US" sz="2553" b="1">
                <a:solidFill>
                  <a:srgbClr val="FFFFFF"/>
                </a:solidFill>
                <a:latin typeface="Pinata Marks Ultra-Bold"/>
                <a:ea typeface="Pinata Marks Ultra-Bold"/>
                <a:cs typeface="Pinata Marks Ultra-Bold"/>
                <a:sym typeface="Pinata Marks Ultra-Bold"/>
              </a:rPr>
              <a:t>To identify the best-performing mobile network (e.g., Jio, Airtel, VI) in a specific area.</a:t>
            </a:r>
          </a:p>
          <a:p>
            <a:pPr algn="ctr">
              <a:lnSpc>
                <a:spcPts val="3574"/>
              </a:lnSpc>
              <a:spcBef>
                <a:spcPct val="0"/>
              </a:spcBef>
            </a:pPr>
            <a:endParaRPr lang="en-US" sz="2553" b="1">
              <a:solidFill>
                <a:srgbClr val="FFFFFF"/>
              </a:solidFill>
              <a:latin typeface="Pinata Marks Ultra-Bold"/>
              <a:ea typeface="Pinata Marks Ultra-Bold"/>
              <a:cs typeface="Pinata Marks Ultra-Bold"/>
              <a:sym typeface="Pinata Marks Ultra-Bold"/>
            </a:endParaRPr>
          </a:p>
          <a:p>
            <a:pPr algn="ctr">
              <a:lnSpc>
                <a:spcPts val="3574"/>
              </a:lnSpc>
              <a:spcBef>
                <a:spcPct val="0"/>
              </a:spcBef>
            </a:pPr>
            <a:r>
              <a:rPr lang="en-US" sz="2553" b="1">
                <a:solidFill>
                  <a:srgbClr val="FFFFFF"/>
                </a:solidFill>
                <a:latin typeface="Pinata Marks Ultra-Bold"/>
                <a:ea typeface="Pinata Marks Ultra-Bold"/>
                <a:cs typeface="Pinata Marks Ultra-Bold"/>
                <a:sym typeface="Pinata Marks Ultra-Bold"/>
              </a:rPr>
              <a:t>To help users choose the best network for better call and internet quality.</a:t>
            </a:r>
          </a:p>
          <a:p>
            <a:pPr algn="ctr">
              <a:lnSpc>
                <a:spcPts val="3574"/>
              </a:lnSpc>
              <a:spcBef>
                <a:spcPct val="0"/>
              </a:spcBef>
            </a:pPr>
            <a:endParaRPr lang="en-US" sz="2553" b="1">
              <a:solidFill>
                <a:srgbClr val="FFFFFF"/>
              </a:solidFill>
              <a:latin typeface="Pinata Marks Ultra-Bold"/>
              <a:ea typeface="Pinata Marks Ultra-Bold"/>
              <a:cs typeface="Pinata Marks Ultra-Bold"/>
              <a:sym typeface="Pinata Marks Ultra-Bold"/>
            </a:endParaRPr>
          </a:p>
          <a:p>
            <a:pPr algn="ctr">
              <a:lnSpc>
                <a:spcPts val="3574"/>
              </a:lnSpc>
              <a:spcBef>
                <a:spcPct val="0"/>
              </a:spcBef>
            </a:pPr>
            <a:r>
              <a:rPr lang="en-US" sz="2553" b="1">
                <a:solidFill>
                  <a:srgbClr val="FFFFFF"/>
                </a:solidFill>
                <a:latin typeface="Pinata Marks Ultra-Bold"/>
                <a:ea typeface="Pinata Marks Ultra-Bold"/>
                <a:cs typeface="Pinata Marks Ultra-Bold"/>
                <a:sym typeface="Pinata Marks Ultra-Bold"/>
              </a:rPr>
              <a:t>To assist telecom companies in planning tower locations and improving coverage. To support network planning in rural, urban, and remote areas.</a:t>
            </a:r>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grpSp>
        <p:nvGrpSpPr>
          <p:cNvPr id="2" name="Group 2"/>
          <p:cNvGrpSpPr/>
          <p:nvPr/>
        </p:nvGrpSpPr>
        <p:grpSpPr>
          <a:xfrm>
            <a:off x="505489" y="-2844348"/>
            <a:ext cx="16230600" cy="4322508"/>
            <a:chOff x="0" y="0"/>
            <a:chExt cx="21640800" cy="5763344"/>
          </a:xfrm>
        </p:grpSpPr>
        <p:sp>
          <p:nvSpPr>
            <p:cNvPr id="3" name="TextBox 3"/>
            <p:cNvSpPr txBox="1"/>
            <p:nvPr/>
          </p:nvSpPr>
          <p:spPr>
            <a:xfrm>
              <a:off x="0" y="1628775"/>
              <a:ext cx="21640800" cy="4134569"/>
            </a:xfrm>
            <a:prstGeom prst="rect">
              <a:avLst/>
            </a:prstGeom>
          </p:spPr>
          <p:txBody>
            <a:bodyPr lIns="0" tIns="0" rIns="0" bIns="0" rtlCol="0" anchor="t">
              <a:spAutoFit/>
            </a:bodyPr>
            <a:lstStyle/>
            <a:p>
              <a:pPr algn="ctr">
                <a:lnSpc>
                  <a:spcPts val="17056"/>
                </a:lnSpc>
              </a:pPr>
              <a:endParaRPr/>
            </a:p>
          </p:txBody>
        </p:sp>
        <p:sp>
          <p:nvSpPr>
            <p:cNvPr id="4" name="TextBox 4"/>
            <p:cNvSpPr txBox="1"/>
            <p:nvPr/>
          </p:nvSpPr>
          <p:spPr>
            <a:xfrm>
              <a:off x="2130844" y="4296489"/>
              <a:ext cx="17207188" cy="1223159"/>
            </a:xfrm>
            <a:prstGeom prst="rect">
              <a:avLst/>
            </a:prstGeom>
          </p:spPr>
          <p:txBody>
            <a:bodyPr lIns="0" tIns="0" rIns="0" bIns="0" rtlCol="0" anchor="t">
              <a:spAutoFit/>
            </a:bodyPr>
            <a:lstStyle/>
            <a:p>
              <a:pPr algn="ctr">
                <a:lnSpc>
                  <a:spcPts val="6648"/>
                </a:lnSpc>
              </a:pPr>
              <a:r>
                <a:rPr lang="en-US" sz="6044" spc="906">
                  <a:solidFill>
                    <a:srgbClr val="9DAFBF"/>
                  </a:solidFill>
                  <a:latin typeface="SK Concretica"/>
                  <a:ea typeface="SK Concretica"/>
                  <a:cs typeface="SK Concretica"/>
                  <a:sym typeface="SK Concretica"/>
                </a:rPr>
                <a:t>RESEARCH PAPER-2</a:t>
              </a:r>
            </a:p>
          </p:txBody>
        </p:sp>
      </p:grpSp>
      <p:sp>
        <p:nvSpPr>
          <p:cNvPr id="5" name="TextBox 5"/>
          <p:cNvSpPr txBox="1"/>
          <p:nvPr/>
        </p:nvSpPr>
        <p:spPr>
          <a:xfrm>
            <a:off x="3446180" y="1601985"/>
            <a:ext cx="12467638" cy="992553"/>
          </a:xfrm>
          <a:prstGeom prst="rect">
            <a:avLst/>
          </a:prstGeom>
        </p:spPr>
        <p:txBody>
          <a:bodyPr lIns="0" tIns="0" rIns="0" bIns="0" rtlCol="0" anchor="t">
            <a:spAutoFit/>
          </a:bodyPr>
          <a:lstStyle/>
          <a:p>
            <a:pPr algn="just">
              <a:lnSpc>
                <a:spcPts val="2533"/>
              </a:lnSpc>
            </a:pPr>
            <a:r>
              <a:rPr lang="en-US" sz="3166" b="1">
                <a:solidFill>
                  <a:srgbClr val="FFDE59"/>
                </a:solidFill>
                <a:latin typeface="Pinata Marks Ultra-Bold"/>
                <a:ea typeface="Pinata Marks Ultra-Bold"/>
                <a:cs typeface="Pinata Marks Ultra-Bold"/>
                <a:sym typeface="Pinata Marks Ultra-Bold"/>
              </a:rPr>
              <a:t>📝 Paper Title:</a:t>
            </a:r>
          </a:p>
          <a:p>
            <a:pPr algn="just">
              <a:lnSpc>
                <a:spcPts val="2533"/>
              </a:lnSpc>
            </a:pPr>
            <a:r>
              <a:rPr lang="en-US" sz="3166" b="1">
                <a:solidFill>
                  <a:srgbClr val="FFDE59"/>
                </a:solidFill>
                <a:latin typeface="Pinata Marks Ultra-Bold"/>
                <a:ea typeface="Pinata Marks Ultra-Bold"/>
                <a:cs typeface="Pinata Marks Ultra-Bold"/>
                <a:sym typeface="Pinata Marks Ultra-Bold"/>
              </a:rPr>
              <a:t>"Field Strength Prediction of Mobile Communication Network Based on GIS"</a:t>
            </a:r>
          </a:p>
          <a:p>
            <a:pPr algn="just">
              <a:lnSpc>
                <a:spcPts val="2533"/>
              </a:lnSpc>
            </a:pPr>
            <a:endParaRPr lang="en-US" sz="3166" b="1">
              <a:solidFill>
                <a:srgbClr val="FFDE59"/>
              </a:solidFill>
              <a:latin typeface="Pinata Marks Ultra-Bold"/>
              <a:ea typeface="Pinata Marks Ultra-Bold"/>
              <a:cs typeface="Pinata Marks Ultra-Bold"/>
              <a:sym typeface="Pinata Marks Ultra-Bold"/>
            </a:endParaRPr>
          </a:p>
        </p:txBody>
      </p:sp>
      <p:sp>
        <p:nvSpPr>
          <p:cNvPr id="6" name="TextBox 6"/>
          <p:cNvSpPr txBox="1"/>
          <p:nvPr/>
        </p:nvSpPr>
        <p:spPr>
          <a:xfrm>
            <a:off x="1028700" y="3060077"/>
            <a:ext cx="1986320" cy="580390"/>
          </a:xfrm>
          <a:prstGeom prst="rect">
            <a:avLst/>
          </a:prstGeom>
        </p:spPr>
        <p:txBody>
          <a:bodyPr lIns="0" tIns="0" rIns="0" bIns="0" rtlCol="0" anchor="t">
            <a:spAutoFit/>
          </a:bodyPr>
          <a:lstStyle/>
          <a:p>
            <a:pPr algn="ctr">
              <a:lnSpc>
                <a:spcPts val="4759"/>
              </a:lnSpc>
            </a:pPr>
            <a:r>
              <a:rPr lang="en-US" sz="3399">
                <a:solidFill>
                  <a:srgbClr val="FFFFFF"/>
                </a:solidFill>
                <a:latin typeface="Canva Sans"/>
                <a:ea typeface="Canva Sans"/>
                <a:cs typeface="Canva Sans"/>
                <a:sym typeface="Canva Sans"/>
              </a:rPr>
              <a:t>Summary</a:t>
            </a:r>
          </a:p>
        </p:txBody>
      </p:sp>
      <p:sp>
        <p:nvSpPr>
          <p:cNvPr id="7" name="TextBox 7"/>
          <p:cNvSpPr txBox="1"/>
          <p:nvPr/>
        </p:nvSpPr>
        <p:spPr>
          <a:xfrm>
            <a:off x="804706" y="4076700"/>
            <a:ext cx="13444694" cy="5668218"/>
          </a:xfrm>
          <a:prstGeom prst="rect">
            <a:avLst/>
          </a:prstGeom>
        </p:spPr>
        <p:txBody>
          <a:bodyPr wrap="square" lIns="0" tIns="0" rIns="0" bIns="0" rtlCol="0" anchor="t">
            <a:spAutoFit/>
          </a:bodyPr>
          <a:lstStyle/>
          <a:p>
            <a:pPr algn="just">
              <a:lnSpc>
                <a:spcPts val="3421"/>
              </a:lnSpc>
              <a:spcBef>
                <a:spcPct val="0"/>
              </a:spcBef>
            </a:pPr>
            <a:r>
              <a:rPr lang="en-US" sz="2281" dirty="0">
                <a:solidFill>
                  <a:srgbClr val="FFFFFF"/>
                </a:solidFill>
                <a:latin typeface="Quicksand"/>
                <a:ea typeface="Quicksand"/>
                <a:cs typeface="Quicksand"/>
                <a:sym typeface="Quicksand"/>
              </a:rPr>
              <a:t>The paper predicts mobile network signal strength using GIS (Geographic information system) tools and a model called COST-231 </a:t>
            </a:r>
            <a:r>
              <a:rPr lang="en-US" sz="2281" dirty="0" err="1">
                <a:solidFill>
                  <a:srgbClr val="FFFFFF"/>
                </a:solidFill>
                <a:latin typeface="Quicksand"/>
                <a:ea typeface="Quicksand"/>
                <a:cs typeface="Quicksand"/>
                <a:sym typeface="Quicksand"/>
              </a:rPr>
              <a:t>Walfisch</a:t>
            </a:r>
            <a:r>
              <a:rPr lang="en-US" sz="2281" dirty="0">
                <a:solidFill>
                  <a:srgbClr val="FFFFFF"/>
                </a:solidFill>
                <a:latin typeface="Quicksand"/>
                <a:ea typeface="Quicksand"/>
                <a:cs typeface="Quicksand"/>
                <a:sym typeface="Quicksand"/>
              </a:rPr>
              <a:t>–Ikegami.</a:t>
            </a:r>
          </a:p>
          <a:p>
            <a:pPr algn="just">
              <a:lnSpc>
                <a:spcPts val="3421"/>
              </a:lnSpc>
              <a:spcBef>
                <a:spcPct val="0"/>
              </a:spcBef>
            </a:pPr>
            <a:endParaRPr lang="en-US" sz="2281" dirty="0">
              <a:solidFill>
                <a:srgbClr val="FFFFFF"/>
              </a:solidFill>
              <a:latin typeface="Quicksand"/>
              <a:ea typeface="Quicksand"/>
              <a:cs typeface="Quicksand"/>
              <a:sym typeface="Quicksand"/>
            </a:endParaRPr>
          </a:p>
          <a:p>
            <a:pPr algn="just">
              <a:lnSpc>
                <a:spcPts val="3421"/>
              </a:lnSpc>
              <a:spcBef>
                <a:spcPct val="0"/>
              </a:spcBef>
            </a:pPr>
            <a:r>
              <a:rPr lang="en-US" sz="2281" dirty="0">
                <a:solidFill>
                  <a:srgbClr val="FFFFFF"/>
                </a:solidFill>
                <a:latin typeface="Quicksand"/>
                <a:ea typeface="Quicksand"/>
                <a:cs typeface="Quicksand"/>
                <a:sym typeface="Quicksand"/>
              </a:rPr>
              <a:t>It maps buildings, roads, and tower locations to see how these affect signal coverage, especially in urban areas.</a:t>
            </a:r>
          </a:p>
          <a:p>
            <a:pPr algn="just">
              <a:lnSpc>
                <a:spcPts val="3421"/>
              </a:lnSpc>
              <a:spcBef>
                <a:spcPct val="0"/>
              </a:spcBef>
            </a:pPr>
            <a:endParaRPr lang="en-US" sz="2281" dirty="0">
              <a:solidFill>
                <a:srgbClr val="FFFFFF"/>
              </a:solidFill>
              <a:latin typeface="Quicksand"/>
              <a:ea typeface="Quicksand"/>
              <a:cs typeface="Quicksand"/>
              <a:sym typeface="Quicksand"/>
            </a:endParaRPr>
          </a:p>
          <a:p>
            <a:pPr algn="just">
              <a:lnSpc>
                <a:spcPts val="3421"/>
              </a:lnSpc>
              <a:spcBef>
                <a:spcPct val="0"/>
              </a:spcBef>
            </a:pPr>
            <a:r>
              <a:rPr lang="en-US" sz="2281" dirty="0">
                <a:solidFill>
                  <a:srgbClr val="FFFFFF"/>
                </a:solidFill>
                <a:latin typeface="Quicksand"/>
                <a:ea typeface="Quicksand"/>
                <a:cs typeface="Quicksand"/>
                <a:sym typeface="Quicksand"/>
              </a:rPr>
              <a:t>It checks whether the signal is directly visible (Line-of-Sight) or blocked by buildings (Non-Line-of-Sight).</a:t>
            </a:r>
          </a:p>
          <a:p>
            <a:pPr algn="just">
              <a:lnSpc>
                <a:spcPts val="3421"/>
              </a:lnSpc>
              <a:spcBef>
                <a:spcPct val="0"/>
              </a:spcBef>
            </a:pPr>
            <a:endParaRPr lang="en-US" sz="2281" dirty="0">
              <a:solidFill>
                <a:srgbClr val="FFFFFF"/>
              </a:solidFill>
              <a:latin typeface="Quicksand"/>
              <a:ea typeface="Quicksand"/>
              <a:cs typeface="Quicksand"/>
              <a:sym typeface="Quicksand"/>
            </a:endParaRPr>
          </a:p>
          <a:p>
            <a:pPr algn="just">
              <a:lnSpc>
                <a:spcPts val="3421"/>
              </a:lnSpc>
              <a:spcBef>
                <a:spcPct val="0"/>
              </a:spcBef>
            </a:pPr>
            <a:r>
              <a:rPr lang="en-US" sz="2281" dirty="0">
                <a:solidFill>
                  <a:srgbClr val="FFFFFF"/>
                </a:solidFill>
                <a:latin typeface="Quicksand"/>
                <a:ea typeface="Quicksand"/>
                <a:cs typeface="Quicksand"/>
                <a:sym typeface="Quicksand"/>
              </a:rPr>
              <a:t>The results are shown on 3D maps, helping improve tower placement and network planning.</a:t>
            </a:r>
          </a:p>
          <a:p>
            <a:pPr algn="just">
              <a:lnSpc>
                <a:spcPts val="3421"/>
              </a:lnSpc>
              <a:spcBef>
                <a:spcPct val="0"/>
              </a:spcBef>
            </a:pPr>
            <a:endParaRPr lang="en-US" sz="2281" dirty="0">
              <a:solidFill>
                <a:srgbClr val="FFFFFF"/>
              </a:solidFill>
              <a:latin typeface="Quicksand"/>
              <a:ea typeface="Quicksand"/>
              <a:cs typeface="Quicksand"/>
              <a:sym typeface="Quicksand"/>
            </a:endParaRPr>
          </a:p>
          <a:p>
            <a:pPr algn="just">
              <a:lnSpc>
                <a:spcPts val="3421"/>
              </a:lnSpc>
              <a:spcBef>
                <a:spcPct val="0"/>
              </a:spcBef>
            </a:pPr>
            <a:r>
              <a:rPr lang="en-US" sz="2281" dirty="0">
                <a:solidFill>
                  <a:srgbClr val="FFFFFF"/>
                </a:solidFill>
                <a:latin typeface="Quicksand"/>
                <a:ea typeface="Quicksand"/>
                <a:cs typeface="Quicksand"/>
                <a:sym typeface="Quicksand"/>
              </a:rPr>
              <a:t>While the model works well, it has some limits, like using average building heights and missing data for some roads.</a:t>
            </a: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3569127" y="276421"/>
            <a:ext cx="10626059" cy="752279"/>
          </a:xfrm>
          <a:prstGeom prst="rect">
            <a:avLst/>
          </a:prstGeom>
        </p:spPr>
        <p:txBody>
          <a:bodyPr lIns="0" tIns="0" rIns="0" bIns="0" rtlCol="0" anchor="t">
            <a:spAutoFit/>
          </a:bodyPr>
          <a:lstStyle/>
          <a:p>
            <a:pPr algn="ctr">
              <a:lnSpc>
                <a:spcPts val="6151"/>
              </a:lnSpc>
            </a:pPr>
            <a:r>
              <a:rPr lang="en-US" sz="4393">
                <a:solidFill>
                  <a:srgbClr val="FFFFFF"/>
                </a:solidFill>
                <a:latin typeface="Fredoka"/>
                <a:ea typeface="Fredoka"/>
                <a:cs typeface="Fredoka"/>
                <a:sym typeface="Fredoka"/>
              </a:rPr>
              <a:t>WORKING PROCESS</a:t>
            </a:r>
          </a:p>
        </p:txBody>
      </p:sp>
      <p:sp>
        <p:nvSpPr>
          <p:cNvPr id="3" name="TextBox 3"/>
          <p:cNvSpPr txBox="1"/>
          <p:nvPr/>
        </p:nvSpPr>
        <p:spPr>
          <a:xfrm>
            <a:off x="113586" y="1680703"/>
            <a:ext cx="18060829" cy="7181215"/>
          </a:xfrm>
          <a:prstGeom prst="rect">
            <a:avLst/>
          </a:prstGeom>
        </p:spPr>
        <p:txBody>
          <a:bodyPr lIns="0" tIns="0" rIns="0" bIns="0" rtlCol="0" anchor="t">
            <a:spAutoFit/>
          </a:bodyPr>
          <a:lstStyle/>
          <a:p>
            <a:pPr algn="l">
              <a:lnSpc>
                <a:spcPts val="4759"/>
              </a:lnSpc>
            </a:pPr>
            <a:endParaRPr/>
          </a:p>
          <a:p>
            <a:pPr algn="l">
              <a:lnSpc>
                <a:spcPts val="4759"/>
              </a:lnSpc>
            </a:pPr>
            <a:r>
              <a:rPr lang="en-US" sz="3399">
                <a:solidFill>
                  <a:srgbClr val="FF6D4D"/>
                </a:solidFill>
                <a:latin typeface="Canva Sans"/>
                <a:ea typeface="Canva Sans"/>
                <a:cs typeface="Canva Sans"/>
                <a:sym typeface="Canva Sans"/>
              </a:rPr>
              <a:t>Collect Data: Get signal strength, location (GPS), and network info from mobile devices.</a:t>
            </a:r>
          </a:p>
          <a:p>
            <a:pPr algn="l">
              <a:lnSpc>
                <a:spcPts val="4759"/>
              </a:lnSpc>
            </a:pPr>
            <a:endParaRPr lang="en-US" sz="3399">
              <a:solidFill>
                <a:srgbClr val="FF6D4D"/>
              </a:solidFill>
              <a:latin typeface="Canva Sans"/>
              <a:ea typeface="Canva Sans"/>
              <a:cs typeface="Canva Sans"/>
              <a:sym typeface="Canva Sans"/>
            </a:endParaRPr>
          </a:p>
          <a:p>
            <a:pPr algn="l">
              <a:lnSpc>
                <a:spcPts val="4759"/>
              </a:lnSpc>
            </a:pPr>
            <a:r>
              <a:rPr lang="en-US" sz="3399">
                <a:solidFill>
                  <a:srgbClr val="FF6D4D"/>
                </a:solidFill>
                <a:latin typeface="Canva Sans"/>
                <a:ea typeface="Canva Sans"/>
                <a:cs typeface="Canva Sans"/>
                <a:sym typeface="Canva Sans"/>
              </a:rPr>
              <a:t>Preprocess Data: Clean and organize the data for analysis.</a:t>
            </a:r>
          </a:p>
          <a:p>
            <a:pPr algn="l">
              <a:lnSpc>
                <a:spcPts val="4759"/>
              </a:lnSpc>
            </a:pPr>
            <a:endParaRPr lang="en-US" sz="3399">
              <a:solidFill>
                <a:srgbClr val="FF6D4D"/>
              </a:solidFill>
              <a:latin typeface="Canva Sans"/>
              <a:ea typeface="Canva Sans"/>
              <a:cs typeface="Canva Sans"/>
              <a:sym typeface="Canva Sans"/>
            </a:endParaRPr>
          </a:p>
          <a:p>
            <a:pPr algn="l">
              <a:lnSpc>
                <a:spcPts val="4759"/>
              </a:lnSpc>
            </a:pPr>
            <a:r>
              <a:rPr lang="en-US" sz="3399">
                <a:solidFill>
                  <a:srgbClr val="FF6D4D"/>
                </a:solidFill>
                <a:latin typeface="Canva Sans"/>
                <a:ea typeface="Canva Sans"/>
                <a:cs typeface="Canva Sans"/>
                <a:sym typeface="Canva Sans"/>
              </a:rPr>
              <a:t>Extract Features: Identify key factors like signal level, network type, and location.</a:t>
            </a:r>
          </a:p>
          <a:p>
            <a:pPr algn="l">
              <a:lnSpc>
                <a:spcPts val="4759"/>
              </a:lnSpc>
            </a:pPr>
            <a:endParaRPr lang="en-US" sz="3399">
              <a:solidFill>
                <a:srgbClr val="FF6D4D"/>
              </a:solidFill>
              <a:latin typeface="Canva Sans"/>
              <a:ea typeface="Canva Sans"/>
              <a:cs typeface="Canva Sans"/>
              <a:sym typeface="Canva Sans"/>
            </a:endParaRPr>
          </a:p>
          <a:p>
            <a:pPr algn="l">
              <a:lnSpc>
                <a:spcPts val="4759"/>
              </a:lnSpc>
            </a:pPr>
            <a:r>
              <a:rPr lang="en-US" sz="3399">
                <a:solidFill>
                  <a:srgbClr val="FF6D4D"/>
                </a:solidFill>
                <a:latin typeface="Canva Sans"/>
                <a:ea typeface="Canva Sans"/>
                <a:cs typeface="Canva Sans"/>
                <a:sym typeface="Canva Sans"/>
              </a:rPr>
              <a:t>Train Model: Use machine learning to learn patterns from the data.</a:t>
            </a:r>
          </a:p>
          <a:p>
            <a:pPr algn="l">
              <a:lnSpc>
                <a:spcPts val="4759"/>
              </a:lnSpc>
            </a:pPr>
            <a:endParaRPr lang="en-US" sz="3399">
              <a:solidFill>
                <a:srgbClr val="FF6D4D"/>
              </a:solidFill>
              <a:latin typeface="Canva Sans"/>
              <a:ea typeface="Canva Sans"/>
              <a:cs typeface="Canva Sans"/>
              <a:sym typeface="Canva Sans"/>
            </a:endParaRPr>
          </a:p>
          <a:p>
            <a:pPr algn="l">
              <a:lnSpc>
                <a:spcPts val="4759"/>
              </a:lnSpc>
            </a:pPr>
            <a:r>
              <a:rPr lang="en-US" sz="3399">
                <a:solidFill>
                  <a:srgbClr val="FF6D4D"/>
                </a:solidFill>
                <a:latin typeface="Canva Sans"/>
                <a:ea typeface="Canva Sans"/>
                <a:cs typeface="Canva Sans"/>
                <a:sym typeface="Canva Sans"/>
              </a:rPr>
              <a:t>Predict Signal: Predict signal strength for different networks at any location.</a:t>
            </a:r>
          </a:p>
          <a:p>
            <a:pPr algn="l">
              <a:lnSpc>
                <a:spcPts val="4759"/>
              </a:lnSpc>
            </a:pPr>
            <a:endParaRPr lang="en-US" sz="3399">
              <a:solidFill>
                <a:srgbClr val="FF6D4D"/>
              </a:solidFill>
              <a:latin typeface="Canva Sans"/>
              <a:ea typeface="Canva Sans"/>
              <a:cs typeface="Canva Sans"/>
              <a:sym typeface="Canva Sans"/>
            </a:endParaRPr>
          </a:p>
          <a:p>
            <a:pPr algn="l">
              <a:lnSpc>
                <a:spcPts val="4759"/>
              </a:lnSpc>
            </a:pPr>
            <a:r>
              <a:rPr lang="en-US" sz="3399">
                <a:solidFill>
                  <a:srgbClr val="FF6D4D"/>
                </a:solidFill>
                <a:latin typeface="Canva Sans"/>
                <a:ea typeface="Canva Sans"/>
                <a:cs typeface="Canva Sans"/>
                <a:sym typeface="Canva Sans"/>
              </a:rPr>
              <a:t>Show Results: Display the best network and signal quality to the user.</a:t>
            </a:r>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359153" y="1225043"/>
            <a:ext cx="14945460" cy="797993"/>
          </a:xfrm>
          <a:prstGeom prst="rect">
            <a:avLst/>
          </a:prstGeom>
        </p:spPr>
        <p:txBody>
          <a:bodyPr lIns="0" tIns="0" rIns="0" bIns="0" rtlCol="0" anchor="t">
            <a:spAutoFit/>
          </a:bodyPr>
          <a:lstStyle/>
          <a:p>
            <a:pPr algn="just">
              <a:lnSpc>
                <a:spcPts val="2066"/>
              </a:lnSpc>
            </a:pPr>
            <a:r>
              <a:rPr lang="en-US" sz="2583" b="1">
                <a:solidFill>
                  <a:srgbClr val="FFDE59"/>
                </a:solidFill>
                <a:latin typeface="Pinata Marks Ultra-Bold"/>
                <a:ea typeface="Pinata Marks Ultra-Bold"/>
                <a:cs typeface="Pinata Marks Ultra-Bold"/>
                <a:sym typeface="Pinata Marks Ultra-Bold"/>
              </a:rPr>
              <a:t>📝 Paper Title:</a:t>
            </a:r>
          </a:p>
          <a:p>
            <a:pPr algn="just">
              <a:lnSpc>
                <a:spcPts val="2066"/>
              </a:lnSpc>
            </a:pPr>
            <a:r>
              <a:rPr lang="en-US" sz="2583" b="1">
                <a:solidFill>
                  <a:srgbClr val="FFDE59"/>
                </a:solidFill>
                <a:latin typeface="Pinata Marks Ultra-Bold"/>
                <a:ea typeface="Pinata Marks Ultra-Bold"/>
                <a:cs typeface="Pinata Marks Ultra-Bold"/>
                <a:sym typeface="Pinata Marks Ultra-Bold"/>
              </a:rPr>
              <a:t>"Modeling and Optimization of Mobile Signal Strength in Challenging Atmospheric Conditions</a:t>
            </a:r>
          </a:p>
          <a:p>
            <a:pPr algn="just">
              <a:lnSpc>
                <a:spcPts val="2066"/>
              </a:lnSpc>
            </a:pPr>
            <a:endParaRPr lang="en-US" sz="2583" b="1">
              <a:solidFill>
                <a:srgbClr val="FFDE59"/>
              </a:solidFill>
              <a:latin typeface="Pinata Marks Ultra-Bold"/>
              <a:ea typeface="Pinata Marks Ultra-Bold"/>
              <a:cs typeface="Pinata Marks Ultra-Bold"/>
              <a:sym typeface="Pinata Marks Ultra-Bold"/>
            </a:endParaRPr>
          </a:p>
        </p:txBody>
      </p:sp>
      <p:sp>
        <p:nvSpPr>
          <p:cNvPr id="3" name="TextBox 3"/>
          <p:cNvSpPr txBox="1"/>
          <p:nvPr/>
        </p:nvSpPr>
        <p:spPr>
          <a:xfrm>
            <a:off x="556133" y="2337604"/>
            <a:ext cx="1986320" cy="580390"/>
          </a:xfrm>
          <a:prstGeom prst="rect">
            <a:avLst/>
          </a:prstGeom>
        </p:spPr>
        <p:txBody>
          <a:bodyPr lIns="0" tIns="0" rIns="0" bIns="0" rtlCol="0" anchor="t">
            <a:spAutoFit/>
          </a:bodyPr>
          <a:lstStyle/>
          <a:p>
            <a:pPr algn="ctr">
              <a:lnSpc>
                <a:spcPts val="4759"/>
              </a:lnSpc>
            </a:pPr>
            <a:r>
              <a:rPr lang="en-US" sz="3399">
                <a:solidFill>
                  <a:srgbClr val="FFFFFF"/>
                </a:solidFill>
                <a:latin typeface="Canva Sans"/>
                <a:ea typeface="Canva Sans"/>
                <a:cs typeface="Canva Sans"/>
                <a:sym typeface="Canva Sans"/>
              </a:rPr>
              <a:t>Summary</a:t>
            </a:r>
          </a:p>
        </p:txBody>
      </p:sp>
      <p:sp>
        <p:nvSpPr>
          <p:cNvPr id="4" name="TextBox 4"/>
          <p:cNvSpPr txBox="1"/>
          <p:nvPr/>
        </p:nvSpPr>
        <p:spPr>
          <a:xfrm>
            <a:off x="359153" y="3365670"/>
            <a:ext cx="17928847" cy="6161673"/>
          </a:xfrm>
          <a:prstGeom prst="rect">
            <a:avLst/>
          </a:prstGeom>
        </p:spPr>
        <p:txBody>
          <a:bodyPr lIns="0" tIns="0" rIns="0" bIns="0" rtlCol="0" anchor="t">
            <a:spAutoFit/>
          </a:bodyPr>
          <a:lstStyle/>
          <a:p>
            <a:pPr algn="l">
              <a:lnSpc>
                <a:spcPts val="3789"/>
              </a:lnSpc>
              <a:spcBef>
                <a:spcPct val="0"/>
              </a:spcBef>
            </a:pPr>
            <a:r>
              <a:rPr lang="en-US" sz="2526">
                <a:solidFill>
                  <a:srgbClr val="0CC0DF"/>
                </a:solidFill>
                <a:latin typeface="Quicksand"/>
                <a:ea typeface="Quicksand"/>
                <a:cs typeface="Quicksand"/>
                <a:sym typeface="Quicksand"/>
              </a:rPr>
              <a:t>1. Purpose of the Study:</a:t>
            </a:r>
          </a:p>
          <a:p>
            <a:pPr algn="l">
              <a:lnSpc>
                <a:spcPts val="3789"/>
              </a:lnSpc>
              <a:spcBef>
                <a:spcPct val="0"/>
              </a:spcBef>
            </a:pPr>
            <a:r>
              <a:rPr lang="en-US" sz="2526">
                <a:solidFill>
                  <a:srgbClr val="0CC0DF"/>
                </a:solidFill>
                <a:latin typeface="Quicksand"/>
                <a:ea typeface="Quicksand"/>
                <a:cs typeface="Quicksand"/>
                <a:sym typeface="Quicksand"/>
              </a:rPr>
              <a:t>The study looked at how weather conditions like temperature and humidity affect mobile signal strength for 2G, 3G, and LTE networks.</a:t>
            </a:r>
          </a:p>
          <a:p>
            <a:pPr algn="l">
              <a:lnSpc>
                <a:spcPts val="3789"/>
              </a:lnSpc>
              <a:spcBef>
                <a:spcPct val="0"/>
              </a:spcBef>
            </a:pPr>
            <a:r>
              <a:rPr lang="en-US" sz="2526">
                <a:solidFill>
                  <a:srgbClr val="0CC0DF"/>
                </a:solidFill>
                <a:latin typeface="Quicksand"/>
                <a:ea typeface="Quicksand"/>
                <a:cs typeface="Quicksand"/>
                <a:sym typeface="Quicksand"/>
              </a:rPr>
              <a:t>2. Main Factors :</a:t>
            </a:r>
          </a:p>
          <a:p>
            <a:pPr algn="l">
              <a:lnSpc>
                <a:spcPts val="3789"/>
              </a:lnSpc>
              <a:spcBef>
                <a:spcPct val="0"/>
              </a:spcBef>
            </a:pPr>
            <a:r>
              <a:rPr lang="en-US" sz="2526">
                <a:solidFill>
                  <a:srgbClr val="0CC0DF"/>
                </a:solidFill>
                <a:latin typeface="Quicksand"/>
                <a:ea typeface="Quicksand"/>
                <a:cs typeface="Quicksand"/>
                <a:sym typeface="Quicksand"/>
              </a:rPr>
              <a:t>Signal strength was tested based on four things — temperature, humidity, air quality (AQI), and distance from the mobile tower.</a:t>
            </a:r>
          </a:p>
          <a:p>
            <a:pPr algn="l">
              <a:lnSpc>
                <a:spcPts val="3789"/>
              </a:lnSpc>
              <a:spcBef>
                <a:spcPct val="0"/>
              </a:spcBef>
            </a:pPr>
            <a:r>
              <a:rPr lang="en-US" sz="2526">
                <a:solidFill>
                  <a:srgbClr val="0CC0DF"/>
                </a:solidFill>
                <a:latin typeface="Quicksand"/>
                <a:ea typeface="Quicksand"/>
                <a:cs typeface="Quicksand"/>
                <a:sym typeface="Quicksand"/>
              </a:rPr>
              <a:t>3. Key Finding:</a:t>
            </a:r>
          </a:p>
          <a:p>
            <a:pPr algn="l">
              <a:lnSpc>
                <a:spcPts val="3789"/>
              </a:lnSpc>
              <a:spcBef>
                <a:spcPct val="0"/>
              </a:spcBef>
            </a:pPr>
            <a:r>
              <a:rPr lang="en-US" sz="2526">
                <a:solidFill>
                  <a:srgbClr val="0CC0DF"/>
                </a:solidFill>
                <a:latin typeface="Quicksand"/>
                <a:ea typeface="Quicksand"/>
                <a:cs typeface="Quicksand"/>
                <a:sym typeface="Quicksand"/>
              </a:rPr>
              <a:t>Signal strength gets weaker when temperature, humidity, or distance from the tower increases.</a:t>
            </a:r>
          </a:p>
          <a:p>
            <a:pPr algn="l">
              <a:lnSpc>
                <a:spcPts val="3789"/>
              </a:lnSpc>
              <a:spcBef>
                <a:spcPct val="0"/>
              </a:spcBef>
            </a:pPr>
            <a:r>
              <a:rPr lang="en-US" sz="2526">
                <a:solidFill>
                  <a:srgbClr val="0CC0DF"/>
                </a:solidFill>
                <a:latin typeface="Quicksand"/>
                <a:ea typeface="Quicksand"/>
                <a:cs typeface="Quicksand"/>
                <a:sym typeface="Quicksand"/>
              </a:rPr>
              <a:t>4. Best Results:</a:t>
            </a:r>
          </a:p>
          <a:p>
            <a:pPr algn="l">
              <a:lnSpc>
                <a:spcPts val="3789"/>
              </a:lnSpc>
              <a:spcBef>
                <a:spcPct val="0"/>
              </a:spcBef>
            </a:pPr>
            <a:r>
              <a:rPr lang="en-US" sz="2526">
                <a:solidFill>
                  <a:srgbClr val="0CC0DF"/>
                </a:solidFill>
                <a:latin typeface="Quicksand"/>
                <a:ea typeface="Quicksand"/>
                <a:cs typeface="Quicksand"/>
                <a:sym typeface="Quicksand"/>
              </a:rPr>
              <a:t>The strongest signal was found when the weather was cool (13.1°C), humidity was low (27.3%), AQI was clean (55), and the tower was close (98m).</a:t>
            </a:r>
          </a:p>
          <a:p>
            <a:pPr algn="l">
              <a:lnSpc>
                <a:spcPts val="3789"/>
              </a:lnSpc>
              <a:spcBef>
                <a:spcPct val="0"/>
              </a:spcBef>
            </a:pPr>
            <a:r>
              <a:rPr lang="en-US" sz="2526">
                <a:solidFill>
                  <a:srgbClr val="0CC0DF"/>
                </a:solidFill>
                <a:latin typeface="Quicksand"/>
                <a:ea typeface="Quicksand"/>
                <a:cs typeface="Quicksand"/>
                <a:sym typeface="Quicksand"/>
              </a:rPr>
              <a:t>5. Conclusion:</a:t>
            </a:r>
          </a:p>
          <a:p>
            <a:pPr algn="l">
              <a:lnSpc>
                <a:spcPts val="3789"/>
              </a:lnSpc>
              <a:spcBef>
                <a:spcPct val="0"/>
              </a:spcBef>
            </a:pPr>
            <a:r>
              <a:rPr lang="en-US" sz="2526">
                <a:solidFill>
                  <a:srgbClr val="0CC0DF"/>
                </a:solidFill>
                <a:latin typeface="Quicksand"/>
                <a:ea typeface="Quicksand"/>
                <a:cs typeface="Quicksand"/>
                <a:sym typeface="Quicksand"/>
              </a:rPr>
              <a:t>2G gives the strongest signal in tough weather conditions, and this study helps improve mobile network planning</a:t>
            </a:r>
          </a:p>
        </p:txBody>
      </p:sp>
      <p:sp>
        <p:nvSpPr>
          <p:cNvPr id="5" name="TextBox 5"/>
          <p:cNvSpPr txBox="1"/>
          <p:nvPr/>
        </p:nvSpPr>
        <p:spPr>
          <a:xfrm>
            <a:off x="6714685" y="158635"/>
            <a:ext cx="7474684" cy="580390"/>
          </a:xfrm>
          <a:prstGeom prst="rect">
            <a:avLst/>
          </a:prstGeom>
        </p:spPr>
        <p:txBody>
          <a:bodyPr lIns="0" tIns="0" rIns="0" bIns="0" rtlCol="0" anchor="t">
            <a:spAutoFit/>
          </a:bodyPr>
          <a:lstStyle/>
          <a:p>
            <a:pPr algn="ctr">
              <a:lnSpc>
                <a:spcPts val="4759"/>
              </a:lnSpc>
            </a:pPr>
            <a:r>
              <a:rPr lang="en-US" sz="3399">
                <a:solidFill>
                  <a:srgbClr val="FFFFFF"/>
                </a:solidFill>
                <a:latin typeface="Canva Sans"/>
                <a:ea typeface="Canva Sans"/>
                <a:cs typeface="Canva Sans"/>
                <a:sym typeface="Canva Sans"/>
              </a:rPr>
              <a:t>RESEARCH PAPER-3</a:t>
            </a:r>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277974" y="2296477"/>
            <a:ext cx="11881604" cy="5560696"/>
          </a:xfrm>
          <a:prstGeom prst="rect">
            <a:avLst/>
          </a:prstGeom>
        </p:spPr>
        <p:txBody>
          <a:bodyPr lIns="0" tIns="0" rIns="0" bIns="0" rtlCol="0" anchor="t">
            <a:spAutoFit/>
          </a:bodyPr>
          <a:lstStyle/>
          <a:p>
            <a:pPr algn="ctr">
              <a:lnSpc>
                <a:spcPts val="6749"/>
              </a:lnSpc>
              <a:spcBef>
                <a:spcPct val="0"/>
              </a:spcBef>
            </a:pPr>
            <a:endParaRPr/>
          </a:p>
          <a:p>
            <a:pPr algn="ctr">
              <a:lnSpc>
                <a:spcPts val="5399"/>
              </a:lnSpc>
              <a:spcBef>
                <a:spcPct val="0"/>
              </a:spcBef>
            </a:pPr>
            <a:r>
              <a:rPr lang="en-US" sz="3599">
                <a:solidFill>
                  <a:srgbClr val="FFFFFF"/>
                </a:solidFill>
                <a:latin typeface="Quicksand"/>
                <a:ea typeface="Quicksand"/>
                <a:cs typeface="Quicksand"/>
                <a:sym typeface="Quicksand"/>
              </a:rPr>
              <a:t>Telecom companies: Plan towers and improve coverage.</a:t>
            </a:r>
          </a:p>
          <a:p>
            <a:pPr algn="ctr">
              <a:lnSpc>
                <a:spcPts val="5399"/>
              </a:lnSpc>
              <a:spcBef>
                <a:spcPct val="0"/>
              </a:spcBef>
            </a:pPr>
            <a:endParaRPr lang="en-US" sz="3599">
              <a:solidFill>
                <a:srgbClr val="FFFFFF"/>
              </a:solidFill>
              <a:latin typeface="Quicksand"/>
              <a:ea typeface="Quicksand"/>
              <a:cs typeface="Quicksand"/>
              <a:sym typeface="Quicksand"/>
            </a:endParaRPr>
          </a:p>
          <a:p>
            <a:pPr algn="ctr">
              <a:lnSpc>
                <a:spcPts val="5399"/>
              </a:lnSpc>
              <a:spcBef>
                <a:spcPct val="0"/>
              </a:spcBef>
            </a:pPr>
            <a:r>
              <a:rPr lang="en-US" sz="3599">
                <a:solidFill>
                  <a:srgbClr val="FFFFFF"/>
                </a:solidFill>
                <a:latin typeface="Quicksand"/>
                <a:ea typeface="Quicksand"/>
                <a:cs typeface="Quicksand"/>
                <a:sym typeface="Quicksand"/>
              </a:rPr>
              <a:t>Consumers: Choose best provider in an area.</a:t>
            </a:r>
          </a:p>
          <a:p>
            <a:pPr algn="ctr">
              <a:lnSpc>
                <a:spcPts val="5399"/>
              </a:lnSpc>
              <a:spcBef>
                <a:spcPct val="0"/>
              </a:spcBef>
            </a:pPr>
            <a:endParaRPr lang="en-US" sz="3599">
              <a:solidFill>
                <a:srgbClr val="FFFFFF"/>
              </a:solidFill>
              <a:latin typeface="Quicksand"/>
              <a:ea typeface="Quicksand"/>
              <a:cs typeface="Quicksand"/>
              <a:sym typeface="Quicksand"/>
            </a:endParaRPr>
          </a:p>
          <a:p>
            <a:pPr algn="ctr">
              <a:lnSpc>
                <a:spcPts val="5399"/>
              </a:lnSpc>
              <a:spcBef>
                <a:spcPct val="0"/>
              </a:spcBef>
            </a:pPr>
            <a:r>
              <a:rPr lang="en-US" sz="3599">
                <a:solidFill>
                  <a:srgbClr val="FFFFFF"/>
                </a:solidFill>
                <a:latin typeface="Quicksand"/>
                <a:ea typeface="Quicksand"/>
                <a:cs typeface="Quicksand"/>
                <a:sym typeface="Quicksand"/>
              </a:rPr>
              <a:t>Smart homes/cities: Ensure IoT connectivity.</a:t>
            </a:r>
          </a:p>
          <a:p>
            <a:pPr algn="ctr">
              <a:lnSpc>
                <a:spcPts val="5399"/>
              </a:lnSpc>
              <a:spcBef>
                <a:spcPct val="0"/>
              </a:spcBef>
            </a:pPr>
            <a:endParaRPr lang="en-US" sz="3599">
              <a:solidFill>
                <a:srgbClr val="FFFFFF"/>
              </a:solidFill>
              <a:latin typeface="Quicksand"/>
              <a:ea typeface="Quicksand"/>
              <a:cs typeface="Quicksand"/>
              <a:sym typeface="Quicksand"/>
            </a:endParaRPr>
          </a:p>
          <a:p>
            <a:pPr algn="ctr">
              <a:lnSpc>
                <a:spcPts val="5399"/>
              </a:lnSpc>
              <a:spcBef>
                <a:spcPct val="0"/>
              </a:spcBef>
            </a:pPr>
            <a:r>
              <a:rPr lang="en-US" sz="3599">
                <a:solidFill>
                  <a:srgbClr val="FFFFFF"/>
                </a:solidFill>
                <a:latin typeface="Quicksand"/>
                <a:ea typeface="Quicksand"/>
                <a:cs typeface="Quicksand"/>
                <a:sym typeface="Quicksand"/>
              </a:rPr>
              <a:t>Disaster zones: Locate areas with weak/no signal.</a:t>
            </a:r>
          </a:p>
        </p:txBody>
      </p:sp>
      <p:sp>
        <p:nvSpPr>
          <p:cNvPr id="3" name="TextBox 3"/>
          <p:cNvSpPr txBox="1"/>
          <p:nvPr/>
        </p:nvSpPr>
        <p:spPr>
          <a:xfrm>
            <a:off x="7108746" y="347730"/>
            <a:ext cx="5159454" cy="874214"/>
          </a:xfrm>
          <a:prstGeom prst="rect">
            <a:avLst/>
          </a:prstGeom>
        </p:spPr>
        <p:txBody>
          <a:bodyPr wrap="square" lIns="0" tIns="0" rIns="0" bIns="0" rtlCol="0" anchor="t">
            <a:spAutoFit/>
          </a:bodyPr>
          <a:lstStyle/>
          <a:p>
            <a:pPr algn="ctr">
              <a:lnSpc>
                <a:spcPts val="7279"/>
              </a:lnSpc>
            </a:pPr>
            <a:r>
              <a:rPr lang="en-US" sz="5199" b="1" dirty="0" smtClean="0">
                <a:solidFill>
                  <a:srgbClr val="0097B2"/>
                </a:solidFill>
                <a:latin typeface="Canva Sans Bold"/>
                <a:ea typeface="Canva Sans Bold"/>
                <a:cs typeface="Canva Sans Bold"/>
                <a:sym typeface="Canva Sans Bold"/>
              </a:rPr>
              <a:t>Applications</a:t>
            </a:r>
            <a:endParaRPr lang="en-US" sz="5199" b="1" dirty="0">
              <a:solidFill>
                <a:srgbClr val="0097B2"/>
              </a:solidFill>
              <a:latin typeface="Canva Sans Bold"/>
              <a:ea typeface="Canva Sans Bold"/>
              <a:cs typeface="Canva Sans Bold"/>
              <a:sym typeface="Canva Sans Bold"/>
            </a:endParaRPr>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5247928" y="141605"/>
            <a:ext cx="7248872" cy="936154"/>
          </a:xfrm>
          <a:prstGeom prst="rect">
            <a:avLst/>
          </a:prstGeom>
        </p:spPr>
        <p:txBody>
          <a:bodyPr wrap="square" lIns="0" tIns="0" rIns="0" bIns="0" rtlCol="0" anchor="t">
            <a:spAutoFit/>
          </a:bodyPr>
          <a:lstStyle/>
          <a:p>
            <a:pPr algn="ctr">
              <a:lnSpc>
                <a:spcPts val="7279"/>
              </a:lnSpc>
            </a:pPr>
            <a:r>
              <a:rPr lang="en-US" sz="5199" b="1" dirty="0">
                <a:solidFill>
                  <a:srgbClr val="FFDE59"/>
                </a:solidFill>
                <a:latin typeface="Canva Sans Bold"/>
                <a:ea typeface="Canva Sans Bold"/>
                <a:cs typeface="Canva Sans Bold"/>
                <a:sym typeface="Canva Sans Bold"/>
              </a:rPr>
              <a:t>RESEARCH PAPER -4</a:t>
            </a:r>
          </a:p>
        </p:txBody>
      </p:sp>
      <p:sp>
        <p:nvSpPr>
          <p:cNvPr id="3" name="TextBox 3"/>
          <p:cNvSpPr txBox="1"/>
          <p:nvPr/>
        </p:nvSpPr>
        <p:spPr>
          <a:xfrm>
            <a:off x="359153" y="1225043"/>
            <a:ext cx="14945460" cy="797993"/>
          </a:xfrm>
          <a:prstGeom prst="rect">
            <a:avLst/>
          </a:prstGeom>
        </p:spPr>
        <p:txBody>
          <a:bodyPr lIns="0" tIns="0" rIns="0" bIns="0" rtlCol="0" anchor="t">
            <a:spAutoFit/>
          </a:bodyPr>
          <a:lstStyle/>
          <a:p>
            <a:pPr algn="just">
              <a:lnSpc>
                <a:spcPts val="2066"/>
              </a:lnSpc>
            </a:pPr>
            <a:r>
              <a:rPr lang="en-US" sz="2583" b="1">
                <a:solidFill>
                  <a:srgbClr val="FFDE59"/>
                </a:solidFill>
                <a:latin typeface="Pinata Marks Ultra-Bold"/>
                <a:ea typeface="Pinata Marks Ultra-Bold"/>
                <a:cs typeface="Pinata Marks Ultra-Bold"/>
                <a:sym typeface="Pinata Marks Ultra-Bold"/>
              </a:rPr>
              <a:t>📝 Paper Title:</a:t>
            </a:r>
          </a:p>
          <a:p>
            <a:pPr algn="just">
              <a:lnSpc>
                <a:spcPts val="2066"/>
              </a:lnSpc>
            </a:pPr>
            <a:r>
              <a:rPr lang="en-US" sz="2583" b="1">
                <a:solidFill>
                  <a:srgbClr val="FFDE59"/>
                </a:solidFill>
                <a:latin typeface="Pinata Marks Ultra-Bold"/>
                <a:ea typeface="Pinata Marks Ultra-Bold"/>
                <a:cs typeface="Pinata Marks Ultra-Bold"/>
                <a:sym typeface="Pinata Marks Ultra-Bold"/>
              </a:rPr>
              <a:t>"Evolution from 4g to 5g and 6g mobile network</a:t>
            </a:r>
          </a:p>
          <a:p>
            <a:pPr algn="just">
              <a:lnSpc>
                <a:spcPts val="2066"/>
              </a:lnSpc>
            </a:pPr>
            <a:endParaRPr lang="en-US" sz="2583" b="1">
              <a:solidFill>
                <a:srgbClr val="FFDE59"/>
              </a:solidFill>
              <a:latin typeface="Pinata Marks Ultra-Bold"/>
              <a:ea typeface="Pinata Marks Ultra-Bold"/>
              <a:cs typeface="Pinata Marks Ultra-Bold"/>
              <a:sym typeface="Pinata Marks Ultra-Bold"/>
            </a:endParaRPr>
          </a:p>
        </p:txBody>
      </p:sp>
      <p:sp>
        <p:nvSpPr>
          <p:cNvPr id="4" name="TextBox 4"/>
          <p:cNvSpPr txBox="1"/>
          <p:nvPr/>
        </p:nvSpPr>
        <p:spPr>
          <a:xfrm>
            <a:off x="7831883" y="1521386"/>
            <a:ext cx="1986320" cy="580390"/>
          </a:xfrm>
          <a:prstGeom prst="rect">
            <a:avLst/>
          </a:prstGeom>
        </p:spPr>
        <p:txBody>
          <a:bodyPr lIns="0" tIns="0" rIns="0" bIns="0" rtlCol="0" anchor="t">
            <a:spAutoFit/>
          </a:bodyPr>
          <a:lstStyle/>
          <a:p>
            <a:pPr algn="ctr">
              <a:lnSpc>
                <a:spcPts val="4759"/>
              </a:lnSpc>
            </a:pPr>
            <a:r>
              <a:rPr lang="en-US" sz="3399">
                <a:solidFill>
                  <a:srgbClr val="FFFFFF"/>
                </a:solidFill>
                <a:latin typeface="Canva Sans"/>
                <a:ea typeface="Canva Sans"/>
                <a:cs typeface="Canva Sans"/>
                <a:sym typeface="Canva Sans"/>
              </a:rPr>
              <a:t>Summary</a:t>
            </a:r>
          </a:p>
        </p:txBody>
      </p:sp>
      <p:sp>
        <p:nvSpPr>
          <p:cNvPr id="5" name="TextBox 5"/>
          <p:cNvSpPr txBox="1"/>
          <p:nvPr/>
        </p:nvSpPr>
        <p:spPr>
          <a:xfrm>
            <a:off x="1028700" y="2313867"/>
            <a:ext cx="16230600" cy="7188756"/>
          </a:xfrm>
          <a:prstGeom prst="rect">
            <a:avLst/>
          </a:prstGeom>
        </p:spPr>
        <p:txBody>
          <a:bodyPr lIns="0" tIns="0" rIns="0" bIns="0" rtlCol="0" anchor="t">
            <a:spAutoFit/>
          </a:bodyPr>
          <a:lstStyle/>
          <a:p>
            <a:pPr algn="l">
              <a:lnSpc>
                <a:spcPts val="2769"/>
              </a:lnSpc>
            </a:pPr>
            <a:r>
              <a:rPr lang="en-US" sz="1978">
                <a:solidFill>
                  <a:srgbClr val="FFFFFF"/>
                </a:solidFill>
                <a:latin typeface="Canva Sans"/>
                <a:ea typeface="Canva Sans"/>
                <a:cs typeface="Canva Sans"/>
                <a:sym typeface="Canva Sans"/>
              </a:rPr>
              <a:t>This paper focuses on the evolution from 4G to 5G and 6G mobile networks, especially in smart cities where many connected devices need fast, reliable internet. A major challenge is the handover process—switching between network towers or technologies while users or vehicles move.</a:t>
            </a:r>
          </a:p>
          <a:p>
            <a:pPr algn="l">
              <a:lnSpc>
                <a:spcPts val="2769"/>
              </a:lnSpc>
            </a:pPr>
            <a:endParaRPr lang="en-US" sz="1978">
              <a:solidFill>
                <a:srgbClr val="FFFFFF"/>
              </a:solidFill>
              <a:latin typeface="Canva Sans"/>
              <a:ea typeface="Canva Sans"/>
              <a:cs typeface="Canva Sans"/>
              <a:sym typeface="Canva Sans"/>
            </a:endParaRPr>
          </a:p>
          <a:p>
            <a:pPr algn="l">
              <a:lnSpc>
                <a:spcPts val="2769"/>
              </a:lnSpc>
            </a:pPr>
            <a:r>
              <a:rPr lang="en-US" sz="1978">
                <a:solidFill>
                  <a:srgbClr val="FFFFFF"/>
                </a:solidFill>
                <a:latin typeface="Canva Sans"/>
                <a:ea typeface="Canva Sans"/>
                <a:cs typeface="Canva Sans"/>
                <a:sym typeface="Canva Sans"/>
              </a:rPr>
              <a:t>Current methods like MIPv6 and NEMO often face problems such as:</a:t>
            </a:r>
          </a:p>
          <a:p>
            <a:pPr algn="l">
              <a:lnSpc>
                <a:spcPts val="2769"/>
              </a:lnSpc>
            </a:pPr>
            <a:endParaRPr lang="en-US" sz="1978">
              <a:solidFill>
                <a:srgbClr val="FFFFFF"/>
              </a:solidFill>
              <a:latin typeface="Canva Sans"/>
              <a:ea typeface="Canva Sans"/>
              <a:cs typeface="Canva Sans"/>
              <a:sym typeface="Canva Sans"/>
            </a:endParaRPr>
          </a:p>
          <a:p>
            <a:pPr algn="l">
              <a:lnSpc>
                <a:spcPts val="2769"/>
              </a:lnSpc>
            </a:pPr>
            <a:r>
              <a:rPr lang="en-US" sz="1978">
                <a:solidFill>
                  <a:srgbClr val="FFFFFF"/>
                </a:solidFill>
                <a:latin typeface="Canva Sans"/>
                <a:ea typeface="Canva Sans"/>
                <a:cs typeface="Canva Sans"/>
                <a:sym typeface="Canva Sans"/>
              </a:rPr>
              <a:t>Slow handovers</a:t>
            </a:r>
          </a:p>
          <a:p>
            <a:pPr algn="l">
              <a:lnSpc>
                <a:spcPts val="2769"/>
              </a:lnSpc>
            </a:pPr>
            <a:endParaRPr lang="en-US" sz="1978">
              <a:solidFill>
                <a:srgbClr val="FFFFFF"/>
              </a:solidFill>
              <a:latin typeface="Canva Sans"/>
              <a:ea typeface="Canva Sans"/>
              <a:cs typeface="Canva Sans"/>
              <a:sym typeface="Canva Sans"/>
            </a:endParaRPr>
          </a:p>
          <a:p>
            <a:pPr algn="l">
              <a:lnSpc>
                <a:spcPts val="2769"/>
              </a:lnSpc>
            </a:pPr>
            <a:r>
              <a:rPr lang="en-US" sz="1978">
                <a:solidFill>
                  <a:srgbClr val="FFFFFF"/>
                </a:solidFill>
                <a:latin typeface="Canva Sans"/>
                <a:ea typeface="Canva Sans"/>
                <a:cs typeface="Canva Sans"/>
                <a:sym typeface="Canva Sans"/>
              </a:rPr>
              <a:t>Dropped connections</a:t>
            </a:r>
          </a:p>
          <a:p>
            <a:pPr algn="l">
              <a:lnSpc>
                <a:spcPts val="2769"/>
              </a:lnSpc>
            </a:pPr>
            <a:endParaRPr lang="en-US" sz="1978">
              <a:solidFill>
                <a:srgbClr val="FFFFFF"/>
              </a:solidFill>
              <a:latin typeface="Canva Sans"/>
              <a:ea typeface="Canva Sans"/>
              <a:cs typeface="Canva Sans"/>
              <a:sym typeface="Canva Sans"/>
            </a:endParaRPr>
          </a:p>
          <a:p>
            <a:pPr algn="l">
              <a:lnSpc>
                <a:spcPts val="2769"/>
              </a:lnSpc>
            </a:pPr>
            <a:r>
              <a:rPr lang="en-US" sz="1978">
                <a:solidFill>
                  <a:srgbClr val="FFFFFF"/>
                </a:solidFill>
                <a:latin typeface="Canva Sans"/>
                <a:ea typeface="Canva Sans"/>
                <a:cs typeface="Canva Sans"/>
                <a:sym typeface="Canva Sans"/>
              </a:rPr>
              <a:t>High signal and cost overhead</a:t>
            </a:r>
          </a:p>
          <a:p>
            <a:pPr algn="l">
              <a:lnSpc>
                <a:spcPts val="2769"/>
              </a:lnSpc>
            </a:pPr>
            <a:endParaRPr lang="en-US" sz="1978">
              <a:solidFill>
                <a:srgbClr val="FFFFFF"/>
              </a:solidFill>
              <a:latin typeface="Canva Sans"/>
              <a:ea typeface="Canva Sans"/>
              <a:cs typeface="Canva Sans"/>
              <a:sym typeface="Canva Sans"/>
            </a:endParaRPr>
          </a:p>
          <a:p>
            <a:pPr algn="l">
              <a:lnSpc>
                <a:spcPts val="2769"/>
              </a:lnSpc>
            </a:pPr>
            <a:r>
              <a:rPr lang="en-US" sz="1978">
                <a:solidFill>
                  <a:srgbClr val="FFFFFF"/>
                </a:solidFill>
                <a:latin typeface="Canva Sans"/>
                <a:ea typeface="Canva Sans"/>
                <a:cs typeface="Canva Sans"/>
                <a:sym typeface="Canva Sans"/>
              </a:rPr>
              <a:t>To solve this, the paper introduces SRNEMO, a new system using Segment Routing and Distributed Mobility Management. It:</a:t>
            </a:r>
          </a:p>
          <a:p>
            <a:pPr algn="l">
              <a:lnSpc>
                <a:spcPts val="2769"/>
              </a:lnSpc>
            </a:pPr>
            <a:endParaRPr lang="en-US" sz="1978">
              <a:solidFill>
                <a:srgbClr val="FFFFFF"/>
              </a:solidFill>
              <a:latin typeface="Canva Sans"/>
              <a:ea typeface="Canva Sans"/>
              <a:cs typeface="Canva Sans"/>
              <a:sym typeface="Canva Sans"/>
            </a:endParaRPr>
          </a:p>
          <a:p>
            <a:pPr algn="l">
              <a:lnSpc>
                <a:spcPts val="2769"/>
              </a:lnSpc>
            </a:pPr>
            <a:r>
              <a:rPr lang="en-US" sz="1978">
                <a:solidFill>
                  <a:srgbClr val="FFFFFF"/>
                </a:solidFill>
                <a:latin typeface="Canva Sans"/>
                <a:ea typeface="Canva Sans"/>
                <a:cs typeface="Canva Sans"/>
                <a:sym typeface="Canva Sans"/>
              </a:rPr>
              <a:t>Reduces handover delays by 20%</a:t>
            </a:r>
          </a:p>
          <a:p>
            <a:pPr algn="l">
              <a:lnSpc>
                <a:spcPts val="2769"/>
              </a:lnSpc>
            </a:pPr>
            <a:endParaRPr lang="en-US" sz="1978">
              <a:solidFill>
                <a:srgbClr val="FFFFFF"/>
              </a:solidFill>
              <a:latin typeface="Canva Sans"/>
              <a:ea typeface="Canva Sans"/>
              <a:cs typeface="Canva Sans"/>
              <a:sym typeface="Canva Sans"/>
            </a:endParaRPr>
          </a:p>
          <a:p>
            <a:pPr algn="l">
              <a:lnSpc>
                <a:spcPts val="2769"/>
              </a:lnSpc>
            </a:pPr>
            <a:r>
              <a:rPr lang="en-US" sz="1978">
                <a:solidFill>
                  <a:srgbClr val="FFFFFF"/>
                </a:solidFill>
                <a:latin typeface="Canva Sans"/>
                <a:ea typeface="Canva Sans"/>
                <a:cs typeface="Canva Sans"/>
                <a:sym typeface="Canva Sans"/>
              </a:rPr>
              <a:t>Lowers signal overhead by 30%</a:t>
            </a:r>
          </a:p>
          <a:p>
            <a:pPr algn="l">
              <a:lnSpc>
                <a:spcPts val="2769"/>
              </a:lnSpc>
            </a:pPr>
            <a:endParaRPr lang="en-US" sz="1978">
              <a:solidFill>
                <a:srgbClr val="FFFFFF"/>
              </a:solidFill>
              <a:latin typeface="Canva Sans"/>
              <a:ea typeface="Canva Sans"/>
              <a:cs typeface="Canva Sans"/>
              <a:sym typeface="Canva Sans"/>
            </a:endParaRPr>
          </a:p>
          <a:p>
            <a:pPr algn="l">
              <a:lnSpc>
                <a:spcPts val="2769"/>
              </a:lnSpc>
            </a:pPr>
            <a:r>
              <a:rPr lang="en-US" sz="1978">
                <a:solidFill>
                  <a:srgbClr val="FFFFFF"/>
                </a:solidFill>
                <a:latin typeface="Canva Sans"/>
                <a:ea typeface="Canva Sans"/>
                <a:cs typeface="Canva Sans"/>
                <a:sym typeface="Canva Sans"/>
              </a:rPr>
              <a:t>Improves connection success during movement by 25%</a:t>
            </a:r>
          </a:p>
          <a:p>
            <a:pPr algn="l">
              <a:lnSpc>
                <a:spcPts val="2769"/>
              </a:lnSpc>
            </a:pPr>
            <a:endParaRPr lang="en-US" sz="1978">
              <a:solidFill>
                <a:srgbClr val="FFFFFF"/>
              </a:solidFill>
              <a:latin typeface="Canva Sans"/>
              <a:ea typeface="Canva Sans"/>
              <a:cs typeface="Canva Sans"/>
              <a:sym typeface="Canva Sans"/>
            </a:endParaRPr>
          </a:p>
          <a:p>
            <a:pPr algn="l">
              <a:lnSpc>
                <a:spcPts val="2769"/>
              </a:lnSpc>
            </a:pPr>
            <a:r>
              <a:rPr lang="en-US" sz="1978">
                <a:solidFill>
                  <a:srgbClr val="FFFFFF"/>
                </a:solidFill>
                <a:latin typeface="Canva Sans"/>
                <a:ea typeface="Canva Sans"/>
                <a:cs typeface="Canva Sans"/>
                <a:sym typeface="Canva Sans"/>
              </a:rPr>
              <a:t>The solution is well-suited for busy urban areas, and future improvements may include AI-based smart handover decisions.</a:t>
            </a:r>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C5270"/>
        </a:solidFill>
        <a:effectLst/>
      </p:bgPr>
    </p:bg>
    <p:spTree>
      <p:nvGrpSpPr>
        <p:cNvPr id="1" name=""/>
        <p:cNvGrpSpPr/>
        <p:nvPr/>
      </p:nvGrpSpPr>
      <p:grpSpPr>
        <a:xfrm>
          <a:off x="0" y="0"/>
          <a:ext cx="0" cy="0"/>
          <a:chOff x="0" y="0"/>
          <a:chExt cx="0" cy="0"/>
        </a:xfrm>
      </p:grpSpPr>
      <p:sp>
        <p:nvSpPr>
          <p:cNvPr id="2" name="TextBox 2"/>
          <p:cNvSpPr txBox="1"/>
          <p:nvPr/>
        </p:nvSpPr>
        <p:spPr>
          <a:xfrm>
            <a:off x="7199054" y="4652327"/>
            <a:ext cx="4992946" cy="936154"/>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THANK YOU</a:t>
            </a:r>
          </a:p>
        </p:txBody>
      </p:sp>
    </p:spTree>
  </p:cSld>
  <p:clrMapOvr>
    <a:masterClrMapping/>
  </p:clrMapOvr>
  <p:transition>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949</Words>
  <Application>Microsoft Office PowerPoint</Application>
  <PresentationFormat>Custom</PresentationFormat>
  <Paragraphs>105</Paragraphs>
  <Slides>10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Arial</vt:lpstr>
      <vt:lpstr>ITC Benguiat</vt:lpstr>
      <vt:lpstr>Canva Sans</vt:lpstr>
      <vt:lpstr>Calibri</vt:lpstr>
      <vt:lpstr>Pinata Marks Ultra-Bold</vt:lpstr>
      <vt:lpstr>Fredoka</vt:lpstr>
      <vt:lpstr>Quicksand</vt:lpstr>
      <vt:lpstr>Neue Machina Ultra-Bold</vt:lpstr>
      <vt:lpstr>Canva Sans Bold</vt:lpstr>
      <vt:lpstr>SK Concretica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Network Signal Strength Prediction</dc:title>
  <cp:lastModifiedBy>poojitha</cp:lastModifiedBy>
  <cp:revision>2</cp:revision>
  <dcterms:created xsi:type="dcterms:W3CDTF">2006-08-16T00:00:00Z</dcterms:created>
  <dcterms:modified xsi:type="dcterms:W3CDTF">2025-11-03T05:19:40Z</dcterms:modified>
  <dc:identifier>DAGvLwaqOLc</dc:identifier>
</cp:coreProperties>
</file>