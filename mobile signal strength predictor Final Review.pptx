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Lato Bold" charset="0"/>
      <p:regular r:id="rId16"/>
    </p:embeddedFont>
    <p:embeddedFont>
      <p:font typeface="Cloud Loop Bold" charset="0"/>
      <p:regular r:id="rId17"/>
    </p:embeddedFont>
    <p:embeddedFont>
      <p:font typeface="Lato" charset="0"/>
      <p:regular r:id="rId18"/>
    </p:embeddedFont>
    <p:embeddedFont>
      <p:font typeface="Calibri" pitchFamily="34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0" d="100"/>
          <a:sy n="30" d="100"/>
        </p:scale>
        <p:origin x="-1456" y="-4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91187" y="9750483"/>
            <a:ext cx="19070375" cy="686932"/>
            <a:chOff x="0" y="0"/>
            <a:chExt cx="5022650" cy="1809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22650" cy="180920"/>
            </a:xfrm>
            <a:custGeom>
              <a:avLst/>
              <a:gdLst/>
              <a:ahLst/>
              <a:cxnLst/>
              <a:rect l="l" t="t" r="r" b="b"/>
              <a:pathLst>
                <a:path w="5022650" h="180920">
                  <a:moveTo>
                    <a:pt x="0" y="0"/>
                  </a:moveTo>
                  <a:lnTo>
                    <a:pt x="5022650" y="0"/>
                  </a:lnTo>
                  <a:lnTo>
                    <a:pt x="5022650" y="180920"/>
                  </a:lnTo>
                  <a:lnTo>
                    <a:pt x="0" y="180920"/>
                  </a:lnTo>
                  <a:close/>
                </a:path>
              </a:pathLst>
            </a:custGeom>
            <a:solidFill>
              <a:srgbClr val="00BCD4"/>
            </a:solidFill>
            <a:ln w="1428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022650" cy="2285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-220905" y="2524368"/>
            <a:ext cx="19132858" cy="3755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054"/>
              </a:lnSpc>
              <a:spcBef>
                <a:spcPct val="0"/>
              </a:spcBef>
            </a:pPr>
            <a:r>
              <a:rPr lang="en-US" sz="10753">
                <a:solidFill>
                  <a:srgbClr val="2196F3"/>
                </a:solidFill>
                <a:latin typeface="Kagitingan"/>
                <a:ea typeface="Kagitingan"/>
                <a:cs typeface="Kagitingan"/>
                <a:sym typeface="Kagitingan"/>
              </a:rPr>
              <a:t>MOBILE SIGNAL STRENGTH PREDICTOR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91187" y="9750483"/>
            <a:ext cx="19070375" cy="686932"/>
            <a:chOff x="0" y="0"/>
            <a:chExt cx="5022650" cy="1809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22650" cy="180920"/>
            </a:xfrm>
            <a:custGeom>
              <a:avLst/>
              <a:gdLst/>
              <a:ahLst/>
              <a:cxnLst/>
              <a:rect l="l" t="t" r="r" b="b"/>
              <a:pathLst>
                <a:path w="5022650" h="180920">
                  <a:moveTo>
                    <a:pt x="0" y="0"/>
                  </a:moveTo>
                  <a:lnTo>
                    <a:pt x="5022650" y="0"/>
                  </a:lnTo>
                  <a:lnTo>
                    <a:pt x="5022650" y="180920"/>
                  </a:lnTo>
                  <a:lnTo>
                    <a:pt x="0" y="180920"/>
                  </a:lnTo>
                  <a:close/>
                </a:path>
              </a:pathLst>
            </a:custGeom>
            <a:solidFill>
              <a:srgbClr val="00BCD4"/>
            </a:solidFill>
            <a:ln w="1428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022650" cy="2285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15855" y="1830209"/>
            <a:ext cx="14634468" cy="6919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37672" lvl="1" indent="-468836" algn="l">
              <a:lnSpc>
                <a:spcPts val="6080"/>
              </a:lnSpc>
              <a:buFont typeface="Arial"/>
              <a:buChar char="•"/>
            </a:pPr>
            <a:r>
              <a:rPr lang="en-US" sz="4343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Mobile networks are the backbone of modern communication.</a:t>
            </a:r>
          </a:p>
          <a:p>
            <a:pPr marL="937672" lvl="1" indent="-468836" algn="l">
              <a:lnSpc>
                <a:spcPts val="6080"/>
              </a:lnSpc>
              <a:buFont typeface="Arial"/>
              <a:buChar char="•"/>
            </a:pPr>
            <a:r>
              <a:rPr lang="en-US" sz="4343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However, signal strength varies due to</a:t>
            </a:r>
            <a:r>
              <a:rPr lang="en-US" sz="4343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location, obstacles, tower distance, and frequency bands.</a:t>
            </a:r>
          </a:p>
          <a:p>
            <a:pPr marL="937672" lvl="1" indent="-468836" algn="l">
              <a:lnSpc>
                <a:spcPts val="6080"/>
              </a:lnSpc>
              <a:buFont typeface="Arial"/>
              <a:buChar char="•"/>
            </a:pPr>
            <a:r>
              <a:rPr lang="en-US" sz="4343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A Mobile Network Signal Strength Predictor help</a:t>
            </a:r>
            <a:r>
              <a:rPr lang="en-US" sz="4343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 estimate coverage quality using </a:t>
            </a:r>
            <a:r>
              <a:rPr lang="en-US" sz="4343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Machine Learning</a:t>
            </a:r>
            <a:r>
              <a:rPr lang="en-US" sz="4343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marL="937672" lvl="1" indent="-468836" algn="l">
              <a:lnSpc>
                <a:spcPts val="6080"/>
              </a:lnSpc>
              <a:buFont typeface="Arial"/>
              <a:buChar char="•"/>
            </a:pPr>
            <a:r>
              <a:rPr lang="en-US" sz="4343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It assists </a:t>
            </a:r>
            <a:r>
              <a:rPr lang="en-US" sz="4343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users</a:t>
            </a:r>
            <a:r>
              <a:rPr lang="en-US" sz="4343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(to choose better locations/networks) and </a:t>
            </a:r>
            <a:r>
              <a:rPr lang="en-US" sz="4343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telecom companies</a:t>
            </a:r>
            <a:r>
              <a:rPr lang="en-US" sz="4343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(to optimize tower placement).</a:t>
            </a:r>
          </a:p>
          <a:p>
            <a:pPr algn="l">
              <a:lnSpc>
                <a:spcPts val="6080"/>
              </a:lnSpc>
              <a:spcBef>
                <a:spcPct val="0"/>
              </a:spcBef>
            </a:pPr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1254557" y="199629"/>
            <a:ext cx="12351426" cy="1486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44"/>
              </a:lnSpc>
              <a:spcBef>
                <a:spcPct val="0"/>
              </a:spcBef>
            </a:pPr>
            <a:r>
              <a:rPr lang="en-US" sz="8674">
                <a:solidFill>
                  <a:srgbClr val="2196F3"/>
                </a:solidFill>
                <a:latin typeface="Kagitingan"/>
                <a:ea typeface="Kagitingan"/>
                <a:cs typeface="Kagitingan"/>
                <a:sym typeface="Kagitingan"/>
              </a:rPr>
              <a:t>INTRODUCTION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91187" y="9750483"/>
            <a:ext cx="19070375" cy="686932"/>
            <a:chOff x="0" y="0"/>
            <a:chExt cx="5022650" cy="1809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22650" cy="180920"/>
            </a:xfrm>
            <a:custGeom>
              <a:avLst/>
              <a:gdLst/>
              <a:ahLst/>
              <a:cxnLst/>
              <a:rect l="l" t="t" r="r" b="b"/>
              <a:pathLst>
                <a:path w="5022650" h="180920">
                  <a:moveTo>
                    <a:pt x="0" y="0"/>
                  </a:moveTo>
                  <a:lnTo>
                    <a:pt x="5022650" y="0"/>
                  </a:lnTo>
                  <a:lnTo>
                    <a:pt x="5022650" y="180920"/>
                  </a:lnTo>
                  <a:lnTo>
                    <a:pt x="0" y="180920"/>
                  </a:lnTo>
                  <a:close/>
                </a:path>
              </a:pathLst>
            </a:custGeom>
            <a:solidFill>
              <a:srgbClr val="00BCD4"/>
            </a:solidFill>
            <a:ln w="1428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022650" cy="2285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982963" y="631601"/>
            <a:ext cx="4696224" cy="9118882"/>
          </a:xfrm>
          <a:custGeom>
            <a:avLst/>
            <a:gdLst/>
            <a:ahLst/>
            <a:cxnLst/>
            <a:rect l="l" t="t" r="r" b="b"/>
            <a:pathLst>
              <a:path w="4696224" h="9118882">
                <a:moveTo>
                  <a:pt x="0" y="0"/>
                </a:moveTo>
                <a:lnTo>
                  <a:pt x="4696224" y="0"/>
                </a:lnTo>
                <a:lnTo>
                  <a:pt x="4696224" y="9118882"/>
                </a:lnTo>
                <a:lnTo>
                  <a:pt x="0" y="9118882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alphaModFix amt="29000"/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72729" y="2570882"/>
            <a:ext cx="15315665" cy="7523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9"/>
              </a:lnSpc>
            </a:pPr>
            <a:r>
              <a:rPr lang="en-US" sz="4292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Problem</a:t>
            </a:r>
          </a:p>
          <a:p>
            <a:pPr algn="l">
              <a:lnSpc>
                <a:spcPts val="6009"/>
              </a:lnSpc>
            </a:pPr>
            <a:r>
              <a:rPr lang="en-US" sz="429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•Uneven and weak </a:t>
            </a:r>
            <a:r>
              <a:rPr lang="en-US" sz="4292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mobile network coverage</a:t>
            </a:r>
            <a:r>
              <a:rPr lang="en-US" sz="429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in many regions.</a:t>
            </a:r>
          </a:p>
          <a:p>
            <a:pPr algn="l">
              <a:lnSpc>
                <a:spcPts val="6009"/>
              </a:lnSpc>
            </a:pPr>
            <a:r>
              <a:rPr lang="en-US" sz="429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 Frequent </a:t>
            </a:r>
            <a:r>
              <a:rPr lang="en-US" sz="4292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call drops</a:t>
            </a:r>
            <a:r>
              <a:rPr lang="en-US" sz="429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, slow internet, and poor connectivity.</a:t>
            </a:r>
          </a:p>
          <a:p>
            <a:pPr algn="l">
              <a:lnSpc>
                <a:spcPts val="6009"/>
              </a:lnSpc>
            </a:pPr>
            <a:endParaRPr/>
          </a:p>
          <a:p>
            <a:pPr algn="l">
              <a:lnSpc>
                <a:spcPts val="6009"/>
              </a:lnSpc>
            </a:pPr>
            <a:r>
              <a:rPr lang="en-US" sz="4292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Objectives</a:t>
            </a:r>
          </a:p>
          <a:p>
            <a:pPr algn="l">
              <a:lnSpc>
                <a:spcPts val="6009"/>
              </a:lnSpc>
            </a:pPr>
            <a:r>
              <a:rPr lang="en-US" sz="429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 Predict </a:t>
            </a:r>
            <a:r>
              <a:rPr lang="en-US" sz="4292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signal strength</a:t>
            </a:r>
            <a:r>
              <a:rPr lang="en-US" sz="429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using ML models.</a:t>
            </a:r>
          </a:p>
          <a:p>
            <a:pPr algn="l">
              <a:lnSpc>
                <a:spcPts val="6009"/>
              </a:lnSpc>
            </a:pPr>
            <a:r>
              <a:rPr lang="en-US" sz="429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 </a:t>
            </a:r>
            <a:r>
              <a:rPr lang="en-US" sz="4292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Preprocess &amp; analyze</a:t>
            </a:r>
            <a:r>
              <a:rPr lang="en-US" sz="429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real signal datasets.</a:t>
            </a:r>
          </a:p>
          <a:p>
            <a:pPr algn="l">
              <a:lnSpc>
                <a:spcPts val="6009"/>
              </a:lnSpc>
            </a:pPr>
            <a:r>
              <a:rPr lang="en-US" sz="429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•Improve prediction accuracy with </a:t>
            </a:r>
            <a:r>
              <a:rPr lang="en-US" sz="4292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feature engineering</a:t>
            </a:r>
            <a:r>
              <a:rPr lang="en-US" sz="429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algn="l">
              <a:lnSpc>
                <a:spcPts val="6009"/>
              </a:lnSpc>
            </a:pPr>
            <a:r>
              <a:rPr lang="en-US" sz="429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 Provide insights for </a:t>
            </a:r>
            <a:r>
              <a:rPr lang="en-US" sz="4292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better connectivity planning</a:t>
            </a:r>
            <a:r>
              <a:rPr lang="en-US" sz="429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algn="l">
              <a:lnSpc>
                <a:spcPts val="6009"/>
              </a:lnSpc>
              <a:spcBef>
                <a:spcPct val="0"/>
              </a:spcBef>
            </a:pPr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272729" y="9847"/>
            <a:ext cx="11721994" cy="2459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45"/>
              </a:lnSpc>
              <a:spcBef>
                <a:spcPct val="0"/>
              </a:spcBef>
            </a:pPr>
            <a:r>
              <a:rPr lang="en-US" sz="7032">
                <a:solidFill>
                  <a:srgbClr val="2196F3"/>
                </a:solidFill>
                <a:latin typeface="Kagitingan"/>
                <a:ea typeface="Kagitingan"/>
                <a:cs typeface="Kagitingan"/>
                <a:sym typeface="Kagitingan"/>
              </a:rPr>
              <a:t>PROBLEM STATEMENTS AND OBJECTIVES: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58456" y="93941"/>
            <a:ext cx="16048343" cy="1308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184"/>
              </a:lnSpc>
              <a:spcBef>
                <a:spcPct val="0"/>
              </a:spcBef>
            </a:pPr>
            <a:r>
              <a:rPr lang="en-US" sz="7274" dirty="0">
                <a:solidFill>
                  <a:srgbClr val="2196F3"/>
                </a:solidFill>
                <a:latin typeface="Kagitingan"/>
                <a:ea typeface="Kagitingan"/>
                <a:cs typeface="Kagitingan"/>
                <a:sym typeface="Kagitingan"/>
              </a:rPr>
              <a:t>LITERATURE SURVEY TABLE: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1790700"/>
            <a:ext cx="16224497" cy="82604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443725" y="120375"/>
            <a:ext cx="5400550" cy="10166625"/>
          </a:xfrm>
          <a:custGeom>
            <a:avLst/>
            <a:gdLst/>
            <a:ahLst/>
            <a:cxnLst/>
            <a:rect l="l" t="t" r="r" b="b"/>
            <a:pathLst>
              <a:path w="5400550" h="10166625">
                <a:moveTo>
                  <a:pt x="0" y="0"/>
                </a:moveTo>
                <a:lnTo>
                  <a:pt x="5400550" y="0"/>
                </a:lnTo>
                <a:lnTo>
                  <a:pt x="5400550" y="10166625"/>
                </a:lnTo>
                <a:lnTo>
                  <a:pt x="0" y="10166625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/>
            <a:stretch>
              <a:fillRect l="-17832" r="-7825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0" y="-133350"/>
            <a:ext cx="12019359" cy="1112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18"/>
              </a:lnSpc>
              <a:spcBef>
                <a:spcPct val="0"/>
              </a:spcBef>
            </a:pPr>
            <a:r>
              <a:rPr lang="en-US" sz="6441">
                <a:solidFill>
                  <a:srgbClr val="2196F3"/>
                </a:solidFill>
                <a:latin typeface="Kagitingan"/>
                <a:ea typeface="Kagitingan"/>
                <a:cs typeface="Kagitingan"/>
                <a:sym typeface="Kagitingan"/>
              </a:rPr>
              <a:t>FLOWCHART: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075512" y="287766"/>
            <a:ext cx="13183788" cy="9711468"/>
          </a:xfrm>
          <a:custGeom>
            <a:avLst/>
            <a:gdLst/>
            <a:ahLst/>
            <a:cxnLst/>
            <a:rect l="l" t="t" r="r" b="b"/>
            <a:pathLst>
              <a:path w="13183788" h="9711468">
                <a:moveTo>
                  <a:pt x="0" y="0"/>
                </a:moveTo>
                <a:lnTo>
                  <a:pt x="13183788" y="0"/>
                </a:lnTo>
                <a:lnTo>
                  <a:pt x="13183788" y="9711468"/>
                </a:lnTo>
                <a:lnTo>
                  <a:pt x="0" y="9711468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/>
            <a:stretch>
              <a:fillRect t="-568" b="-56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68867" y="544829"/>
            <a:ext cx="3064933" cy="589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 dirty="0">
                <a:solidFill>
                  <a:srgbClr val="000000"/>
                </a:solidFill>
                <a:latin typeface="Cloud Loop Bold"/>
                <a:ea typeface="Cloud Loop Bold"/>
                <a:cs typeface="Cloud Loop Bold"/>
                <a:sym typeface="Cloud Loop Bold"/>
              </a:rPr>
              <a:t>PreProcessing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91187" y="9750483"/>
            <a:ext cx="19070375" cy="686932"/>
            <a:chOff x="0" y="0"/>
            <a:chExt cx="5022650" cy="1809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22650" cy="180920"/>
            </a:xfrm>
            <a:custGeom>
              <a:avLst/>
              <a:gdLst/>
              <a:ahLst/>
              <a:cxnLst/>
              <a:rect l="l" t="t" r="r" b="b"/>
              <a:pathLst>
                <a:path w="5022650" h="180920">
                  <a:moveTo>
                    <a:pt x="0" y="0"/>
                  </a:moveTo>
                  <a:lnTo>
                    <a:pt x="5022650" y="0"/>
                  </a:lnTo>
                  <a:lnTo>
                    <a:pt x="5022650" y="180920"/>
                  </a:lnTo>
                  <a:lnTo>
                    <a:pt x="0" y="180920"/>
                  </a:lnTo>
                  <a:close/>
                </a:path>
              </a:pathLst>
            </a:custGeom>
            <a:solidFill>
              <a:srgbClr val="00BCD4"/>
            </a:solidFill>
            <a:ln w="1428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022650" cy="2285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0" y="908512"/>
            <a:ext cx="18147982" cy="7985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0201" lvl="1" indent="-350100" algn="l">
              <a:lnSpc>
                <a:spcPts val="4540"/>
              </a:lnSpc>
              <a:buFont typeface="Arial"/>
              <a:buChar char="•"/>
            </a:pPr>
            <a:r>
              <a:rPr lang="en-US" sz="3243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Removed column:</a:t>
            </a:r>
          </a:p>
          <a:p>
            <a:pPr algn="l">
              <a:lnSpc>
                <a:spcPts val="4540"/>
              </a:lnSpc>
            </a:pPr>
            <a:r>
              <a:rPr lang="en-US" sz="3243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Timestamp → dropped because it’s a time string, not useful for model training or categorical visualization.</a:t>
            </a:r>
          </a:p>
          <a:p>
            <a:pPr marL="700201" lvl="1" indent="-350100" algn="l">
              <a:lnSpc>
                <a:spcPts val="4540"/>
              </a:lnSpc>
              <a:buFont typeface="Arial"/>
              <a:buChar char="•"/>
            </a:pPr>
            <a:r>
              <a:rPr lang="en-US" sz="3243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Encoded categorical columns:</a:t>
            </a:r>
          </a:p>
          <a:p>
            <a:pPr algn="l">
              <a:lnSpc>
                <a:spcPts val="4540"/>
              </a:lnSpc>
            </a:pPr>
            <a:r>
              <a:rPr lang="en-US" sz="3243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Locality and Network Type were converted from text (object) → numeric codes using LabelEncoder.</a:t>
            </a:r>
          </a:p>
          <a:p>
            <a:pPr marL="700201" lvl="1" indent="-350100" algn="l">
              <a:lnSpc>
                <a:spcPts val="4540"/>
              </a:lnSpc>
              <a:buFont typeface="Arial"/>
              <a:buChar char="•"/>
            </a:pPr>
            <a:r>
              <a:rPr lang="en-US" sz="3243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Example:</a:t>
            </a:r>
          </a:p>
          <a:p>
            <a:pPr algn="l">
              <a:lnSpc>
                <a:spcPts val="4540"/>
              </a:lnSpc>
            </a:pPr>
            <a:r>
              <a:rPr lang="en-US" sz="3243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Network Type: 3G → 0, 4G → 1, 5G → 2, LTE → 3</a:t>
            </a:r>
          </a:p>
          <a:p>
            <a:pPr algn="l">
              <a:lnSpc>
                <a:spcPts val="4540"/>
              </a:lnSpc>
            </a:pPr>
            <a:r>
              <a:rPr lang="en-US" sz="3243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Locality: each location assigned a unique number.</a:t>
            </a:r>
          </a:p>
          <a:p>
            <a:pPr algn="l">
              <a:lnSpc>
                <a:spcPts val="4540"/>
              </a:lnSpc>
            </a:pPr>
            <a:r>
              <a:rPr lang="en-US" sz="3243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Checked and handled missing values:</a:t>
            </a:r>
          </a:p>
          <a:p>
            <a:pPr algn="l">
              <a:lnSpc>
                <a:spcPts val="4540"/>
              </a:lnSpc>
            </a:pPr>
            <a:r>
              <a:rPr lang="en-US" sz="3243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Replaced any missing numeric values with the mean of that column.</a:t>
            </a:r>
          </a:p>
          <a:p>
            <a:pPr algn="l">
              <a:lnSpc>
                <a:spcPts val="4540"/>
              </a:lnSpc>
            </a:pPr>
            <a:r>
              <a:rPr lang="en-US" sz="3243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Kept all numeric columns unchanged:</a:t>
            </a:r>
          </a:p>
          <a:p>
            <a:pPr algn="l">
              <a:lnSpc>
                <a:spcPts val="4540"/>
              </a:lnSpc>
              <a:spcBef>
                <a:spcPct val="0"/>
              </a:spcBef>
            </a:pPr>
            <a:r>
              <a:rPr lang="en-US" sz="3243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Columns like Signal Strength (dBm), Signal Quality (%), Latency (ms), etc., were kept as-is (only cleaned).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0" y="-114300"/>
            <a:ext cx="10630426" cy="103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88"/>
              </a:lnSpc>
              <a:spcBef>
                <a:spcPct val="0"/>
              </a:spcBef>
            </a:pPr>
            <a:r>
              <a:rPr lang="en-US" sz="6063" dirty="0">
                <a:solidFill>
                  <a:srgbClr val="2196F3"/>
                </a:solidFill>
                <a:latin typeface="Kagitingan"/>
                <a:ea typeface="Kagitingan"/>
                <a:cs typeface="Kagitingan"/>
                <a:sym typeface="Kagitingan"/>
              </a:rPr>
              <a:t>PREPROCESSING DATA: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91187" y="9750483"/>
            <a:ext cx="19070375" cy="686932"/>
            <a:chOff x="0" y="0"/>
            <a:chExt cx="5022650" cy="1809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22650" cy="180920"/>
            </a:xfrm>
            <a:custGeom>
              <a:avLst/>
              <a:gdLst/>
              <a:ahLst/>
              <a:cxnLst/>
              <a:rect l="l" t="t" r="r" b="b"/>
              <a:pathLst>
                <a:path w="5022650" h="180920">
                  <a:moveTo>
                    <a:pt x="0" y="0"/>
                  </a:moveTo>
                  <a:lnTo>
                    <a:pt x="5022650" y="0"/>
                  </a:lnTo>
                  <a:lnTo>
                    <a:pt x="5022650" y="180920"/>
                  </a:lnTo>
                  <a:lnTo>
                    <a:pt x="0" y="180920"/>
                  </a:lnTo>
                  <a:close/>
                </a:path>
              </a:pathLst>
            </a:custGeom>
            <a:solidFill>
              <a:srgbClr val="00BCD4"/>
            </a:solidFill>
            <a:ln w="1428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022650" cy="2285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75239" y="2128285"/>
            <a:ext cx="18073996" cy="5916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05043" lvl="1" indent="-602521" algn="l">
              <a:lnSpc>
                <a:spcPts val="7814"/>
              </a:lnSpc>
              <a:buFont typeface="Arial"/>
              <a:buChar char="•"/>
            </a:pPr>
            <a:r>
              <a:rPr lang="en-US" sz="5581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Total records: 16,829</a:t>
            </a:r>
          </a:p>
          <a:p>
            <a:pPr marL="1205043" lvl="1" indent="-602521" algn="l">
              <a:lnSpc>
                <a:spcPts val="7814"/>
              </a:lnSpc>
              <a:buFont typeface="Arial"/>
              <a:buChar char="•"/>
            </a:pPr>
            <a:r>
              <a:rPr lang="en-US" sz="5581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Total columns: 12 (after preprocessing → 11)</a:t>
            </a:r>
          </a:p>
          <a:p>
            <a:pPr marL="1205043" lvl="1" indent="-602521" algn="l">
              <a:lnSpc>
                <a:spcPts val="7814"/>
              </a:lnSpc>
              <a:buFont typeface="Arial"/>
              <a:buChar char="•"/>
            </a:pPr>
            <a:r>
              <a:rPr lang="en-US" sz="5581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Data type mix:</a:t>
            </a:r>
          </a:p>
          <a:p>
            <a:pPr marL="1205043" lvl="1" indent="-602521" algn="l">
              <a:lnSpc>
                <a:spcPts val="7814"/>
              </a:lnSpc>
              <a:buFont typeface="Arial"/>
              <a:buChar char="•"/>
            </a:pPr>
            <a:r>
              <a:rPr lang="en-US" sz="5581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9 numeric columns</a:t>
            </a:r>
          </a:p>
          <a:p>
            <a:pPr marL="1205043" lvl="1" indent="-602521" algn="l">
              <a:lnSpc>
                <a:spcPts val="7814"/>
              </a:lnSpc>
              <a:spcBef>
                <a:spcPct val="0"/>
              </a:spcBef>
              <a:buFont typeface="Arial"/>
              <a:buChar char="•"/>
            </a:pPr>
            <a:r>
              <a:rPr lang="en-US" sz="5581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3 categorical columns (Timestamp, Locality, Network Type)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75239" y="-171450"/>
            <a:ext cx="12351426" cy="1461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64"/>
              </a:lnSpc>
              <a:spcBef>
                <a:spcPct val="0"/>
              </a:spcBef>
            </a:pPr>
            <a:r>
              <a:rPr lang="en-US" sz="8474">
                <a:solidFill>
                  <a:srgbClr val="2196F3"/>
                </a:solidFill>
                <a:latin typeface="Kagitingan"/>
                <a:ea typeface="Kagitingan"/>
                <a:cs typeface="Kagitingan"/>
                <a:sym typeface="Kagitingan"/>
              </a:rPr>
              <a:t>DATASET ANAYLSIS: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91187" y="9750483"/>
            <a:ext cx="19070375" cy="686932"/>
            <a:chOff x="0" y="0"/>
            <a:chExt cx="5022650" cy="1809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22650" cy="180920"/>
            </a:xfrm>
            <a:custGeom>
              <a:avLst/>
              <a:gdLst/>
              <a:ahLst/>
              <a:cxnLst/>
              <a:rect l="l" t="t" r="r" b="b"/>
              <a:pathLst>
                <a:path w="5022650" h="180920">
                  <a:moveTo>
                    <a:pt x="0" y="0"/>
                  </a:moveTo>
                  <a:lnTo>
                    <a:pt x="5022650" y="0"/>
                  </a:lnTo>
                  <a:lnTo>
                    <a:pt x="5022650" y="180920"/>
                  </a:lnTo>
                  <a:lnTo>
                    <a:pt x="0" y="180920"/>
                  </a:lnTo>
                  <a:close/>
                </a:path>
              </a:pathLst>
            </a:custGeom>
            <a:solidFill>
              <a:srgbClr val="FF9800"/>
            </a:solidFill>
            <a:ln w="1428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022650" cy="2285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42492" y="-171450"/>
            <a:ext cx="13331715" cy="1486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44"/>
              </a:lnSpc>
              <a:spcBef>
                <a:spcPct val="0"/>
              </a:spcBef>
            </a:pPr>
            <a:r>
              <a:rPr lang="en-US" sz="8674">
                <a:solidFill>
                  <a:srgbClr val="2196F3"/>
                </a:solidFill>
                <a:latin typeface="Kagitingan"/>
                <a:ea typeface="Kagitingan"/>
                <a:cs typeface="Kagitingan"/>
                <a:sym typeface="Kagitingan"/>
              </a:rPr>
              <a:t>FEATURE SELECTION: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0" y="1636090"/>
            <a:ext cx="18099944" cy="7622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33726" lvl="1" indent="-516863" algn="just">
              <a:lnSpc>
                <a:spcPts val="6703"/>
              </a:lnSpc>
              <a:buFont typeface="Arial"/>
              <a:buChar char="•"/>
            </a:pPr>
            <a:r>
              <a:rPr lang="en-US" sz="4787" b="1">
                <a:solidFill>
                  <a:srgbClr val="000000"/>
                </a:solidFill>
                <a:latin typeface="Cloud Loop Bold"/>
                <a:ea typeface="Cloud Loop Bold"/>
                <a:cs typeface="Cloud Loop Bold"/>
                <a:sym typeface="Cloud Loop Bold"/>
              </a:rPr>
              <a:t>Used a Correlation Heatmap to find which features influence Signal Strength.</a:t>
            </a:r>
          </a:p>
          <a:p>
            <a:pPr algn="just">
              <a:lnSpc>
                <a:spcPts val="6703"/>
              </a:lnSpc>
            </a:pPr>
            <a:endParaRPr/>
          </a:p>
          <a:p>
            <a:pPr marL="1033726" lvl="1" indent="-516863" algn="just">
              <a:lnSpc>
                <a:spcPts val="6703"/>
              </a:lnSpc>
              <a:buFont typeface="Arial"/>
              <a:buChar char="•"/>
            </a:pPr>
            <a:r>
              <a:rPr lang="en-US" sz="4787" b="1">
                <a:solidFill>
                  <a:srgbClr val="000000"/>
                </a:solidFill>
                <a:latin typeface="Cloud Loop Bold"/>
                <a:ea typeface="Cloud Loop Bold"/>
                <a:cs typeface="Cloud Loop Bold"/>
                <a:sym typeface="Cloud Loop Bold"/>
              </a:rPr>
              <a:t>Identified that Throughput, Latency, Latitude, and Longitude have the strongest relationships with the target.</a:t>
            </a:r>
          </a:p>
          <a:p>
            <a:pPr algn="just">
              <a:lnSpc>
                <a:spcPts val="6703"/>
              </a:lnSpc>
            </a:pPr>
            <a:endParaRPr/>
          </a:p>
          <a:p>
            <a:pPr marL="1033726" lvl="1" indent="-516863" algn="just">
              <a:lnSpc>
                <a:spcPts val="6703"/>
              </a:lnSpc>
              <a:buFont typeface="Arial"/>
              <a:buChar char="•"/>
            </a:pPr>
            <a:r>
              <a:rPr lang="en-US" sz="4787" b="1">
                <a:solidFill>
                  <a:srgbClr val="000000"/>
                </a:solidFill>
                <a:latin typeface="Cloud Loop Bold"/>
                <a:ea typeface="Cloud Loop Bold"/>
                <a:cs typeface="Cloud Loop Bold"/>
                <a:sym typeface="Cloud Loop Bold"/>
              </a:rPr>
              <a:t>These four were selected as the final input features (X).</a:t>
            </a:r>
          </a:p>
          <a:p>
            <a:pPr algn="just">
              <a:lnSpc>
                <a:spcPts val="6703"/>
              </a:lnSpc>
            </a:pPr>
            <a:endParaRPr/>
          </a:p>
          <a:p>
            <a:pPr marL="1033726" lvl="1" indent="-516863" algn="just">
              <a:lnSpc>
                <a:spcPts val="6703"/>
              </a:lnSpc>
              <a:buFont typeface="Arial"/>
              <a:buChar char="•"/>
            </a:pPr>
            <a:r>
              <a:rPr lang="en-US" sz="4787" b="1">
                <a:solidFill>
                  <a:srgbClr val="000000"/>
                </a:solidFill>
                <a:latin typeface="Cloud Loop Bold"/>
                <a:ea typeface="Cloud Loop Bold"/>
                <a:cs typeface="Cloud Loop Bold"/>
                <a:sym typeface="Cloud Loop Bold"/>
              </a:rPr>
              <a:t>Signal Strength (dBm) was chosen as the target (Y).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108341"/>
            <a:ext cx="12711535" cy="6684724"/>
          </a:xfrm>
          <a:custGeom>
            <a:avLst/>
            <a:gdLst/>
            <a:ahLst/>
            <a:cxnLst/>
            <a:rect l="l" t="t" r="r" b="b"/>
            <a:pathLst>
              <a:path w="12711535" h="6684724">
                <a:moveTo>
                  <a:pt x="0" y="0"/>
                </a:moveTo>
                <a:lnTo>
                  <a:pt x="12711535" y="0"/>
                </a:lnTo>
                <a:lnTo>
                  <a:pt x="12711535" y="6684723"/>
                </a:lnTo>
                <a:lnTo>
                  <a:pt x="0" y="6684723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/>
            <a:stretch>
              <a:fillRect t="-4165" r="-18995" b="-4165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33171" y="310472"/>
            <a:ext cx="5722597" cy="1293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647"/>
              </a:lnSpc>
              <a:spcBef>
                <a:spcPct val="0"/>
              </a:spcBef>
            </a:pPr>
            <a:r>
              <a:rPr lang="en-US" sz="7605">
                <a:solidFill>
                  <a:srgbClr val="2196F3"/>
                </a:solidFill>
                <a:latin typeface="Kagitingan"/>
                <a:ea typeface="Kagitingan"/>
                <a:cs typeface="Kagitingan"/>
                <a:sym typeface="Kagitingan"/>
              </a:rPr>
              <a:t>visualization: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966931" y="1786929"/>
            <a:ext cx="2754015" cy="999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000000"/>
                </a:solidFill>
                <a:latin typeface="Cloud Loop Bold"/>
                <a:ea typeface="Cloud Loop Bold"/>
                <a:cs typeface="Cloud Loop Bold"/>
                <a:sym typeface="Cloud Loop Bold"/>
              </a:rPr>
              <a:t>Dark Red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000000"/>
                </a:solidFill>
                <a:latin typeface="Cloud Loop Bold"/>
                <a:ea typeface="Cloud Loop Bold"/>
                <a:cs typeface="Cloud Loop Bold"/>
                <a:sym typeface="Cloud Loop Bold"/>
              </a:rPr>
              <a:t>High signal → high speed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000000"/>
                </a:solidFill>
                <a:latin typeface="Cloud Loop Bold"/>
                <a:ea typeface="Cloud Loop Bold"/>
                <a:cs typeface="Cloud Loop Bold"/>
                <a:sym typeface="Cloud Loop Bold"/>
              </a:rPr>
              <a:t> Low signal → low speed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574917" y="3145572"/>
            <a:ext cx="3538042" cy="999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000000"/>
                </a:solidFill>
                <a:latin typeface="Cloud Loop Bold"/>
                <a:ea typeface="Cloud Loop Bold"/>
                <a:cs typeface="Cloud Loop Bold"/>
                <a:sym typeface="Cloud Loop Bold"/>
              </a:rPr>
              <a:t>Dark Blue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000000"/>
                </a:solidFill>
                <a:latin typeface="Cloud Loop Bold"/>
                <a:ea typeface="Cloud Loop Bold"/>
                <a:cs typeface="Cloud Loop Bold"/>
                <a:sym typeface="Cloud Loop Bold"/>
              </a:rPr>
              <a:t>High signal → low latency (good)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000000"/>
                </a:solidFill>
                <a:latin typeface="Cloud Loop Bold"/>
                <a:ea typeface="Cloud Loop Bold"/>
                <a:cs typeface="Cloud Loop Bold"/>
                <a:sym typeface="Cloud Loop Bold"/>
              </a:rPr>
              <a:t>Low signal → high latency (bad)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373735" y="4795033"/>
            <a:ext cx="4914265" cy="2993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4"/>
              </a:lnSpc>
              <a:spcBef>
                <a:spcPct val="0"/>
              </a:spcBef>
            </a:pPr>
            <a:endParaRPr/>
          </a:p>
          <a:p>
            <a:pPr algn="l">
              <a:lnSpc>
                <a:spcPts val="2851"/>
              </a:lnSpc>
              <a:spcBef>
                <a:spcPct val="0"/>
              </a:spcBef>
            </a:pPr>
            <a:r>
              <a:rPr lang="en-US" sz="2036" b="1">
                <a:solidFill>
                  <a:srgbClr val="000000"/>
                </a:solidFill>
                <a:latin typeface="Cloud Loop Bold"/>
                <a:ea typeface="Cloud Loop Bold"/>
                <a:cs typeface="Cloud Loop Bold"/>
                <a:sym typeface="Cloud Loop Bold"/>
              </a:rPr>
              <a:t>Latitude &amp; Longitude have very low correlation with Signal Strength</a:t>
            </a:r>
          </a:p>
          <a:p>
            <a:pPr algn="l">
              <a:lnSpc>
                <a:spcPts val="2851"/>
              </a:lnSpc>
              <a:spcBef>
                <a:spcPct val="0"/>
              </a:spcBef>
            </a:pPr>
            <a:r>
              <a:rPr lang="en-US" sz="2036" b="1">
                <a:solidFill>
                  <a:srgbClr val="000000"/>
                </a:solidFill>
                <a:latin typeface="Cloud Loop Bold"/>
                <a:ea typeface="Cloud Loop Bold"/>
                <a:cs typeface="Cloud Loop Bold"/>
                <a:sym typeface="Cloud Loop Bold"/>
              </a:rPr>
              <a:t>Network Type has a noticeable impact on signal strength.</a:t>
            </a:r>
          </a:p>
          <a:p>
            <a:pPr algn="l">
              <a:lnSpc>
                <a:spcPts val="2851"/>
              </a:lnSpc>
              <a:spcBef>
                <a:spcPct val="0"/>
              </a:spcBef>
            </a:pPr>
            <a:r>
              <a:rPr lang="en-US" sz="2036" b="1">
                <a:solidFill>
                  <a:srgbClr val="000000"/>
                </a:solidFill>
                <a:latin typeface="Cloud Loop Bold"/>
                <a:ea typeface="Cloud Loop Bold"/>
                <a:cs typeface="Cloud Loop Bold"/>
                <a:sym typeface="Cloud Loop Bold"/>
              </a:rPr>
              <a:t> Data Throughput (Mbps) is strongly related to measured signal values.</a:t>
            </a:r>
          </a:p>
          <a:p>
            <a:pPr algn="l">
              <a:lnSpc>
                <a:spcPts val="2886"/>
              </a:lnSpc>
              <a:spcBef>
                <a:spcPct val="0"/>
              </a:spcBef>
            </a:pPr>
            <a:r>
              <a:rPr lang="en-US" sz="2061" b="1">
                <a:solidFill>
                  <a:srgbClr val="000000"/>
                </a:solidFill>
                <a:latin typeface="Cloud Loop Bold"/>
                <a:ea typeface="Cloud Loop Bold"/>
                <a:cs typeface="Cloud Loop Bold"/>
                <a:sym typeface="Cloud Loop Bold"/>
              </a:rPr>
              <a:t>Latency has opposite behavior — strong signal reduces latency.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1504410"/>
            <a:ext cx="26539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smtClean="0"/>
              <a:t>Heat Map</a:t>
            </a:r>
            <a:endParaRPr lang="en-US" sz="4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79552" y="1171238"/>
            <a:ext cx="16479748" cy="7826203"/>
          </a:xfrm>
          <a:custGeom>
            <a:avLst/>
            <a:gdLst/>
            <a:ahLst/>
            <a:cxnLst/>
            <a:rect l="l" t="t" r="r" b="b"/>
            <a:pathLst>
              <a:path w="16479748" h="7826203">
                <a:moveTo>
                  <a:pt x="0" y="0"/>
                </a:moveTo>
                <a:lnTo>
                  <a:pt x="16479748" y="0"/>
                </a:lnTo>
                <a:lnTo>
                  <a:pt x="16479748" y="7826204"/>
                </a:lnTo>
                <a:lnTo>
                  <a:pt x="0" y="7826204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834207" y="0"/>
            <a:ext cx="9732113" cy="7665590"/>
          </a:xfrm>
          <a:custGeom>
            <a:avLst/>
            <a:gdLst/>
            <a:ahLst/>
            <a:cxnLst/>
            <a:rect l="l" t="t" r="r" b="b"/>
            <a:pathLst>
              <a:path w="9732113" h="7665590">
                <a:moveTo>
                  <a:pt x="0" y="0"/>
                </a:moveTo>
                <a:lnTo>
                  <a:pt x="9732113" y="0"/>
                </a:lnTo>
                <a:lnTo>
                  <a:pt x="9732113" y="7665590"/>
                </a:lnTo>
                <a:lnTo>
                  <a:pt x="0" y="766559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/>
            <a:stretch>
              <a:fillRect t="-2204" r="-2638" b="-220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481730" y="7638865"/>
            <a:ext cx="11806270" cy="2648135"/>
          </a:xfrm>
          <a:custGeom>
            <a:avLst/>
            <a:gdLst/>
            <a:ahLst/>
            <a:cxnLst/>
            <a:rect l="l" t="t" r="r" b="b"/>
            <a:pathLst>
              <a:path w="11806270" h="2648135">
                <a:moveTo>
                  <a:pt x="0" y="0"/>
                </a:moveTo>
                <a:lnTo>
                  <a:pt x="11806270" y="0"/>
                </a:lnTo>
                <a:lnTo>
                  <a:pt x="11806270" y="2648135"/>
                </a:lnTo>
                <a:lnTo>
                  <a:pt x="0" y="2648135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print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-1542465" y="481329"/>
            <a:ext cx="9732113" cy="547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Cloud Loop Bold"/>
                <a:ea typeface="Cloud Loop Bold"/>
                <a:cs typeface="Cloud Loop Bold"/>
                <a:sym typeface="Cloud Loop Bold"/>
              </a:rPr>
              <a:t>Categorical Distrubution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20502" y="3450372"/>
            <a:ext cx="5213705" cy="2574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000000"/>
                </a:solidFill>
                <a:latin typeface="Cloud Loop Bold"/>
                <a:ea typeface="Cloud Loop Bold"/>
                <a:cs typeface="Cloud Loop Bold"/>
                <a:sym typeface="Cloud Loop Bold"/>
              </a:rPr>
              <a:t>X-axis = Network Type, Y-axis = Count.</a:t>
            </a:r>
          </a:p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000000"/>
                </a:solidFill>
                <a:latin typeface="Cloud Loop Bold"/>
                <a:ea typeface="Cloud Loop Bold"/>
                <a:cs typeface="Cloud Loop Bold"/>
                <a:sym typeface="Cloud Loop Bold"/>
              </a:rPr>
              <a:t>All bars are nearly equal → dataset is balanced across network types.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7704055"/>
            <a:ext cx="14294047" cy="2126239"/>
          </a:xfrm>
          <a:custGeom>
            <a:avLst/>
            <a:gdLst/>
            <a:ahLst/>
            <a:cxnLst/>
            <a:rect l="l" t="t" r="r" b="b"/>
            <a:pathLst>
              <a:path w="14294047" h="2126239">
                <a:moveTo>
                  <a:pt x="0" y="0"/>
                </a:moveTo>
                <a:lnTo>
                  <a:pt x="14294047" y="0"/>
                </a:lnTo>
                <a:lnTo>
                  <a:pt x="14294047" y="2126239"/>
                </a:lnTo>
                <a:lnTo>
                  <a:pt x="0" y="2126239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026444" y="368104"/>
            <a:ext cx="9296303" cy="7088431"/>
          </a:xfrm>
          <a:custGeom>
            <a:avLst/>
            <a:gdLst/>
            <a:ahLst/>
            <a:cxnLst/>
            <a:rect l="l" t="t" r="r" b="b"/>
            <a:pathLst>
              <a:path w="9296303" h="7088431">
                <a:moveTo>
                  <a:pt x="0" y="0"/>
                </a:moveTo>
                <a:lnTo>
                  <a:pt x="9296303" y="0"/>
                </a:lnTo>
                <a:lnTo>
                  <a:pt x="9296303" y="7088431"/>
                </a:lnTo>
                <a:lnTo>
                  <a:pt x="0" y="7088431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print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568007"/>
            <a:ext cx="36195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 b="1" dirty="0">
                <a:solidFill>
                  <a:srgbClr val="000000"/>
                </a:solidFill>
                <a:latin typeface="Cloud Loop Bold"/>
                <a:ea typeface="Cloud Loop Bold"/>
                <a:cs typeface="Cloud Loop Bold"/>
                <a:sym typeface="Cloud Loop Bold"/>
              </a:rPr>
              <a:t>Box Plot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0" y="2632128"/>
            <a:ext cx="5524526" cy="3060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Cloud Loop Bold"/>
                <a:ea typeface="Cloud Loop Bold"/>
                <a:cs typeface="Cloud Loop Bold"/>
                <a:sym typeface="Cloud Loop Bold"/>
              </a:rPr>
              <a:t>X-axis = Network Type, Y-axis = Signal Strength (dBm).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Cloud Loop Bold"/>
                <a:ea typeface="Cloud Loop Bold"/>
                <a:cs typeface="Cloud Loop Bold"/>
                <a:sym typeface="Cloud Loop Bold"/>
              </a:rPr>
              <a:t>Median signal varies by network type — higher networks generally have stronger (less negative) signals.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Cloud Loop Bold"/>
                <a:ea typeface="Cloud Loop Bold"/>
                <a:cs typeface="Cloud Loop Bold"/>
                <a:sym typeface="Cloud Loop Bold"/>
              </a:rPr>
              <a:t>Outliers show extreme weak or strong signals.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804644" y="3986021"/>
            <a:ext cx="9282956" cy="2154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6778"/>
              </a:lnSpc>
              <a:spcBef>
                <a:spcPct val="0"/>
              </a:spcBef>
            </a:pPr>
            <a:r>
              <a:rPr lang="en-US" sz="11984" dirty="0">
                <a:solidFill>
                  <a:srgbClr val="2196F3"/>
                </a:solidFill>
                <a:latin typeface="Kagitingan"/>
                <a:ea typeface="Kagitingan"/>
                <a:cs typeface="Kagitingan"/>
                <a:sym typeface="Kagitingan"/>
              </a:rPr>
              <a:t>THANKYOU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495</Words>
  <Application>Microsoft Office PowerPoint</Application>
  <PresentationFormat>Custom</PresentationFormat>
  <Paragraphs>66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Lato Bold</vt:lpstr>
      <vt:lpstr>Cloud Loop Bold</vt:lpstr>
      <vt:lpstr>Lato</vt:lpstr>
      <vt:lpstr>Calibri</vt:lpstr>
      <vt:lpstr>Kagitingan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signal strength predictor</dc:title>
  <dc:creator>HP</dc:creator>
  <cp:lastModifiedBy>poojitha</cp:lastModifiedBy>
  <cp:revision>3</cp:revision>
  <dcterms:created xsi:type="dcterms:W3CDTF">2006-08-16T00:00:00Z</dcterms:created>
  <dcterms:modified xsi:type="dcterms:W3CDTF">2025-11-04T07:49:20Z</dcterms:modified>
  <dc:identifier>DAG3hoIFd4U</dc:identifier>
</cp:coreProperties>
</file>